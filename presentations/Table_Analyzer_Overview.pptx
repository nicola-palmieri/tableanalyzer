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notesMasterIdLst>
    <p:notesMasterId r:id="rId22"/>
  </p:notesMasterIdLst>
  <p:sldIdLst>
    <p:sldId id="256" r:id="rId2"/>
    <p:sldId id="258" r:id="rId3"/>
    <p:sldId id="257" r:id="rId4"/>
    <p:sldId id="270" r:id="rId5"/>
    <p:sldId id="271" r:id="rId6"/>
    <p:sldId id="266" r:id="rId7"/>
    <p:sldId id="268" r:id="rId8"/>
    <p:sldId id="269" r:id="rId9"/>
    <p:sldId id="274" r:id="rId10"/>
    <p:sldId id="275" r:id="rId11"/>
    <p:sldId id="277" r:id="rId12"/>
    <p:sldId id="276" r:id="rId13"/>
    <p:sldId id="272" r:id="rId14"/>
    <p:sldId id="273" r:id="rId15"/>
    <p:sldId id="278" r:id="rId16"/>
    <p:sldId id="262" r:id="rId17"/>
    <p:sldId id="259" r:id="rId18"/>
    <p:sldId id="260" r:id="rId19"/>
    <p:sldId id="263" r:id="rId20"/>
    <p:sldId id="265" r:id="rId21"/>
  </p:sldIdLst>
  <p:sldSz cx="9144000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60">
          <p15:clr>
            <a:srgbClr val="A4A3A4"/>
          </p15:clr>
        </p15:guide>
        <p15:guide id="2" pos="2880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2020"/>
    <p:restoredTop sz="94683"/>
  </p:normalViewPr>
  <p:slideViewPr>
    <p:cSldViewPr snapToGrid="0" snapToObjects="1">
      <p:cViewPr>
        <p:scale>
          <a:sx n="167" d="100"/>
          <a:sy n="167" d="100"/>
        </p:scale>
        <p:origin x="4192" y="816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26" Type="http://schemas.openxmlformats.org/officeDocument/2006/relationships/tableStyles" Target="tableStyles.xml"/><Relationship Id="rId3" Type="http://schemas.openxmlformats.org/officeDocument/2006/relationships/slide" Target="slides/slide2.xml"/><Relationship Id="rId21" Type="http://schemas.openxmlformats.org/officeDocument/2006/relationships/slide" Target="slides/slide20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theme" Target="theme/theme1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slide" Target="slides/slide19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viewProps" Target="viewProps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presProps" Target="presProps.xml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notesMaster" Target="notesMasters/notesMaster1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404C4D2F-30A8-1C43-8374-9D9D8BF63153}" type="datetimeFigureOut">
              <a:rPr lang="en-US" smtClean="0"/>
              <a:t>11/27/25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371600" y="1143000"/>
            <a:ext cx="41148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3B911241-7DC5-2249-8C77-6E6B4E46212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7516216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5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3B911241-7DC5-2249-8C77-6E6B4E462127}" type="slidenum">
              <a:rPr lang="en-US" smtClean="0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311732677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3B911241-7DC5-2249-8C77-6E6B4E462127}" type="slidenum">
              <a:rPr lang="en-US" smtClean="0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890168472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11/27/25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11/27/25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11/27/25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11/27/25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11/27/25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11/27/25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11/27/25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11/27/25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11/27/25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11/27/25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11/27/25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gradFill flip="none" rotWithShape="1">
          <a:gsLst>
            <a:gs pos="0">
              <a:srgbClr val="F0F7FF"/>
            </a:gs>
            <a:gs pos="100000">
              <a:srgbClr val="DCECFA"/>
            </a:gs>
          </a:gsLst>
          <a:lin ang="0" scaled="0"/>
          <a:tileRect/>
        </a:gra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11/27/25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hyperlink" Target="https://nicola-palmieri.shinyapps.io/tableanalyzer/" TargetMode="External"/><Relationship Id="rId1" Type="http://schemas.openxmlformats.org/officeDocument/2006/relationships/slideLayout" Target="../slideLayouts/slideLayout7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7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hyperlink" Target="https://github.com/nicola-palmieri/TableAnalyzer" TargetMode="External"/><Relationship Id="rId2" Type="http://schemas.openxmlformats.org/officeDocument/2006/relationships/hyperlink" Target="https://posit.co/download/rstudio-desktop" TargetMode="External"/><Relationship Id="rId1" Type="http://schemas.openxmlformats.org/officeDocument/2006/relationships/slideLayout" Target="../slideLayouts/slideLayout7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7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914400" y="2286000"/>
            <a:ext cx="7315200" cy="1371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endParaRPr dirty="0"/>
          </a:p>
          <a:p>
            <a:pPr algn="ctr">
              <a:defRPr sz="5400" b="1">
                <a:solidFill>
                  <a:srgbClr val="1E3246"/>
                </a:solidFill>
              </a:defRPr>
            </a:pPr>
            <a:r>
              <a:rPr dirty="0"/>
              <a:t>Table Analyzer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982980" y="3657600"/>
            <a:ext cx="7178040" cy="11079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endParaRPr lang="en-GB" dirty="0"/>
          </a:p>
          <a:p>
            <a:pPr algn="ctr">
              <a:defRPr sz="2400">
                <a:solidFill>
                  <a:srgbClr val="2C76BC"/>
                </a:solidFill>
              </a:defRPr>
            </a:pPr>
            <a:r>
              <a:rPr lang="en-GB" dirty="0"/>
              <a:t>Turn you tabular data into publication-ready </a:t>
            </a:r>
          </a:p>
          <a:p>
            <a:pPr algn="ctr">
              <a:defRPr sz="2400">
                <a:solidFill>
                  <a:srgbClr val="2C76BC"/>
                </a:solidFill>
              </a:defRPr>
            </a:pPr>
            <a:r>
              <a:rPr lang="en-GB" dirty="0"/>
              <a:t>summary tables and plots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914400" y="5943600"/>
            <a:ext cx="73152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endParaRPr/>
          </a:p>
          <a:p>
            <a:pPr algn="ctr">
              <a:defRPr sz="1400">
                <a:solidFill>
                  <a:srgbClr val="1E3246"/>
                </a:solidFill>
              </a:defRPr>
            </a:pPr>
            <a:r>
              <a:t>Developed by Nicola Palmieri</a:t>
            </a: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86A21E52-2E15-6104-6319-CEFB0A6D0FBB}"/>
              </a:ext>
            </a:extLst>
          </p:cNvPr>
          <p:cNvSpPr txBox="1"/>
          <p:nvPr/>
        </p:nvSpPr>
        <p:spPr>
          <a:xfrm>
            <a:off x="3951890" y="5160579"/>
            <a:ext cx="1236236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01.12.2025</a:t>
            </a: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71EE6ADB-DAF4-0B29-7460-62CEEA33A01A}"/>
              </a:ext>
            </a:extLst>
          </p:cNvPr>
          <p:cNvSpPr txBox="1"/>
          <p:nvPr/>
        </p:nvSpPr>
        <p:spPr>
          <a:xfrm>
            <a:off x="1635947" y="3342289"/>
            <a:ext cx="7104358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lvl="1">
              <a:defRPr sz="1800">
                <a:solidFill>
                  <a:srgbClr val="3C3C3C"/>
                </a:solidFill>
              </a:defRPr>
            </a:pPr>
            <a:r>
              <a:rPr lang="de-DE" dirty="0">
                <a:solidFill>
                  <a:srgbClr val="7030A0"/>
                </a:solidFill>
                <a:hlinkClick r:id="rId2"/>
              </a:rPr>
              <a:t>https://nicola-palmieri.shinyapps.io/tableanalyzer/</a:t>
            </a:r>
            <a:endParaRPr lang="de-DE" dirty="0">
              <a:solidFill>
                <a:srgbClr val="7030A0"/>
              </a:solidFill>
            </a:endParaRP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9CBC87B-D5FA-3788-37B7-B5FF88A24B7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1C34A4BA-C93F-F175-CB79-50A8F3032521}"/>
              </a:ext>
            </a:extLst>
          </p:cNvPr>
          <p:cNvSpPr txBox="1"/>
          <p:nvPr/>
        </p:nvSpPr>
        <p:spPr>
          <a:xfrm>
            <a:off x="858591" y="612844"/>
            <a:ext cx="7772400" cy="5078313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2400" b="1" dirty="0"/>
              <a:t>Who am I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dirty="0"/>
              <a:t>Bioinformatician specialized in microbial genomics, neuroinformatics, and high-throughput data analysis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dirty="0"/>
              <a:t>Researcher at </a:t>
            </a:r>
            <a:r>
              <a:rPr lang="en-US" b="1" dirty="0" err="1"/>
              <a:t>Vetmeduni</a:t>
            </a:r>
            <a:r>
              <a:rPr lang="en-US" b="1" dirty="0"/>
              <a:t> Wien</a:t>
            </a:r>
            <a:r>
              <a:rPr lang="en-US" dirty="0"/>
              <a:t> and data analyst at </a:t>
            </a:r>
            <a:r>
              <a:rPr lang="en-US" b="1" dirty="0" err="1"/>
              <a:t>a:head</a:t>
            </a:r>
            <a:r>
              <a:rPr lang="en-US" b="1" dirty="0"/>
              <a:t> Bio</a:t>
            </a:r>
            <a:r>
              <a:rPr lang="en-US" dirty="0"/>
              <a:t> with &gt;10 years experience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dirty="0"/>
              <a:t>Experience with omics datasets, biological signal processing, microscopy image analysis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dirty="0"/>
              <a:t>Developer of R/</a:t>
            </a:r>
            <a:r>
              <a:rPr lang="en-US" dirty="0" err="1"/>
              <a:t>Streamlit</a:t>
            </a:r>
            <a:r>
              <a:rPr lang="en-US" dirty="0"/>
              <a:t> applications for biological data analysis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dirty="0"/>
              <a:t>Passionate about transforming complex datasets into clear, interpretable, publication-ready insights</a:t>
            </a:r>
          </a:p>
          <a:p>
            <a:endParaRPr lang="en-US" sz="2400" b="1" dirty="0"/>
          </a:p>
          <a:p>
            <a:r>
              <a:rPr lang="en-US" sz="2400" b="1" dirty="0"/>
              <a:t>My research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dirty="0"/>
              <a:t>Genomics of bacterial, viral, and protozoan pathogens in veterinary medicine, focusing on evolution, virulence factors, antimicrobial resistance, and outbreak characterization using NGS.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dirty="0"/>
              <a:t>Development of pipelines and apps to extract and analyze functional and morphological metrics from brain-organoid activity data</a:t>
            </a:r>
          </a:p>
        </p:txBody>
      </p:sp>
    </p:spTree>
    <p:extLst>
      <p:ext uri="{BB962C8B-B14F-4D97-AF65-F5344CB8AC3E}">
        <p14:creationId xmlns:p14="http://schemas.microsoft.com/office/powerpoint/2010/main" val="3850551531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7" fill="hold">
                      <p:stCondLst>
                        <p:cond delay="indefinite"/>
                      </p:stCondLst>
                      <p:childTnLst>
                        <p:par>
                          <p:cTn id="28" fill="hold">
                            <p:stCondLst>
                              <p:cond delay="0"/>
                            </p:stCondLst>
                            <p:childTnLst>
                              <p:par>
                                <p:cTn id="2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>
                                            <p:txEl>
                                              <p:pRg st="9" end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795528" y="210312"/>
            <a:ext cx="7772400" cy="6001643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endParaRPr dirty="0"/>
          </a:p>
          <a:p>
            <a:pPr>
              <a:defRPr sz="2400" b="1">
                <a:solidFill>
                  <a:srgbClr val="1E3246"/>
                </a:solidFill>
              </a:defRPr>
            </a:pPr>
            <a:r>
              <a:rPr lang="de-DE" dirty="0" err="1"/>
              <a:t>What</a:t>
            </a:r>
            <a:r>
              <a:rPr lang="de-DE" dirty="0"/>
              <a:t> </a:t>
            </a:r>
            <a:r>
              <a:rPr lang="de-DE" dirty="0" err="1"/>
              <a:t>is</a:t>
            </a:r>
            <a:r>
              <a:rPr lang="de-DE" dirty="0"/>
              <a:t> Table Analyzer</a:t>
            </a:r>
            <a:endParaRPr dirty="0"/>
          </a:p>
          <a:p>
            <a:pPr lvl="1">
              <a:defRPr sz="1800">
                <a:solidFill>
                  <a:srgbClr val="3C3C3C"/>
                </a:solidFill>
              </a:defRPr>
            </a:pPr>
            <a:r>
              <a:rPr dirty="0"/>
              <a:t>• Lightweight R Shiny app for analyzing tabular datasets</a:t>
            </a:r>
          </a:p>
          <a:p>
            <a:pPr lvl="1">
              <a:defRPr sz="1800">
                <a:solidFill>
                  <a:srgbClr val="3C3C3C"/>
                </a:solidFill>
              </a:defRPr>
            </a:pPr>
            <a:r>
              <a:rPr dirty="0"/>
              <a:t>• Generates publication-ready tables and plots</a:t>
            </a:r>
          </a:p>
          <a:p>
            <a:pPr lvl="1">
              <a:defRPr sz="1800">
                <a:solidFill>
                  <a:srgbClr val="3C3C3C"/>
                </a:solidFill>
              </a:defRPr>
            </a:pPr>
            <a:r>
              <a:rPr dirty="0"/>
              <a:t>• Designed for clarity, reproducibility, and speed</a:t>
            </a:r>
            <a:endParaRPr lang="de-DE" dirty="0"/>
          </a:p>
          <a:p>
            <a:pPr lvl="1">
              <a:defRPr sz="1800">
                <a:solidFill>
                  <a:srgbClr val="3C3C3C"/>
                </a:solidFill>
              </a:defRPr>
            </a:pPr>
            <a:r>
              <a:rPr lang="en-US" dirty="0"/>
              <a:t>• Based on a modern, model-based statistical framework (ANOVA, LM, LMM)</a:t>
            </a:r>
            <a:endParaRPr dirty="0"/>
          </a:p>
          <a:p>
            <a:pPr>
              <a:defRPr sz="2400" b="1">
                <a:solidFill>
                  <a:srgbClr val="1E3246"/>
                </a:solidFill>
              </a:defRPr>
            </a:pPr>
            <a:r>
              <a:rPr dirty="0"/>
              <a:t>What it can do</a:t>
            </a:r>
          </a:p>
          <a:p>
            <a:pPr lvl="1">
              <a:defRPr sz="1800">
                <a:solidFill>
                  <a:srgbClr val="3C3C3C"/>
                </a:solidFill>
              </a:defRPr>
            </a:pPr>
            <a:r>
              <a:rPr dirty="0"/>
              <a:t>• Seven analysis modules: Descriptive Statistics, One-way ANOVA, Two-way ANOVA, LM, LMM, Pairwise Correlation, PCA</a:t>
            </a:r>
          </a:p>
          <a:p>
            <a:pPr lvl="1">
              <a:defRPr sz="1800">
                <a:solidFill>
                  <a:srgbClr val="3C3C3C"/>
                </a:solidFill>
              </a:defRPr>
            </a:pPr>
            <a:r>
              <a:rPr dirty="0"/>
              <a:t>• Download publication-formatted tables</a:t>
            </a:r>
            <a:r>
              <a:rPr lang="de-DE" dirty="0"/>
              <a:t> and </a:t>
            </a:r>
            <a:r>
              <a:rPr lang="de-DE" dirty="0" err="1"/>
              <a:t>plots</a:t>
            </a:r>
            <a:r>
              <a:rPr lang="de-DE" dirty="0"/>
              <a:t> at 300 dpi (PNG)</a:t>
            </a:r>
            <a:endParaRPr dirty="0"/>
          </a:p>
          <a:p>
            <a:pPr>
              <a:defRPr sz="2400" b="1">
                <a:solidFill>
                  <a:srgbClr val="1E3246"/>
                </a:solidFill>
              </a:defRPr>
            </a:pPr>
            <a:r>
              <a:rPr dirty="0"/>
              <a:t>What it is not</a:t>
            </a:r>
          </a:p>
          <a:p>
            <a:pPr lvl="1">
              <a:defRPr sz="1800">
                <a:solidFill>
                  <a:srgbClr val="3C3C3C"/>
                </a:solidFill>
              </a:defRPr>
            </a:pPr>
            <a:r>
              <a:rPr dirty="0"/>
              <a:t>• Not a replacement for Excel, GraphPad Prism, or SPSS</a:t>
            </a:r>
          </a:p>
          <a:p>
            <a:pPr lvl="1">
              <a:defRPr sz="1800">
                <a:solidFill>
                  <a:srgbClr val="3C3C3C"/>
                </a:solidFill>
              </a:defRPr>
            </a:pPr>
            <a:r>
              <a:rPr dirty="0"/>
              <a:t>• Not intended for data editing or spreadsheet management</a:t>
            </a:r>
          </a:p>
          <a:p>
            <a:pPr>
              <a:defRPr sz="2400" b="1">
                <a:solidFill>
                  <a:srgbClr val="1E3246"/>
                </a:solidFill>
              </a:defRPr>
            </a:pPr>
            <a:r>
              <a:rPr dirty="0"/>
              <a:t>Why </a:t>
            </a:r>
            <a:r>
              <a:rPr lang="de-DE" dirty="0" err="1"/>
              <a:t>should</a:t>
            </a:r>
            <a:r>
              <a:rPr lang="de-DE" dirty="0"/>
              <a:t> </a:t>
            </a:r>
            <a:r>
              <a:rPr lang="de-DE" dirty="0" err="1"/>
              <a:t>you</a:t>
            </a:r>
            <a:r>
              <a:rPr lang="de-DE" dirty="0"/>
              <a:t> </a:t>
            </a:r>
            <a:r>
              <a:rPr lang="de-DE" dirty="0" err="1"/>
              <a:t>use</a:t>
            </a:r>
            <a:r>
              <a:rPr lang="de-DE" dirty="0"/>
              <a:t> </a:t>
            </a:r>
            <a:r>
              <a:rPr lang="de-DE" dirty="0" err="1"/>
              <a:t>it</a:t>
            </a:r>
            <a:endParaRPr dirty="0"/>
          </a:p>
          <a:p>
            <a:pPr lvl="1">
              <a:defRPr sz="1800">
                <a:solidFill>
                  <a:srgbClr val="3C3C3C"/>
                </a:solidFill>
              </a:defRPr>
            </a:pPr>
            <a:r>
              <a:rPr lang="en-US" dirty="0"/>
              <a:t>• Ability to load both long and wide datasets</a:t>
            </a:r>
            <a:endParaRPr lang="de-DE" dirty="0"/>
          </a:p>
          <a:p>
            <a:pPr lvl="1">
              <a:defRPr sz="1800">
                <a:solidFill>
                  <a:srgbClr val="3C3C3C"/>
                </a:solidFill>
              </a:defRPr>
            </a:pPr>
            <a:r>
              <a:rPr dirty="0"/>
              <a:t>• Multiple responses in parallel: run the same model across several outcomes</a:t>
            </a:r>
          </a:p>
          <a:p>
            <a:pPr lvl="1">
              <a:defRPr sz="1800">
                <a:solidFill>
                  <a:srgbClr val="3C3C3C"/>
                </a:solidFill>
              </a:defRPr>
            </a:pPr>
            <a:r>
              <a:rPr dirty="0"/>
              <a:t>• Stratification: fit models within groups (batch, treatment, animal group)</a:t>
            </a:r>
          </a:p>
          <a:p>
            <a:pPr lvl="1">
              <a:defRPr sz="1800">
                <a:solidFill>
                  <a:srgbClr val="3C3C3C"/>
                </a:solidFill>
              </a:defRPr>
            </a:pPr>
            <a:r>
              <a:rPr dirty="0"/>
              <a:t>• </a:t>
            </a:r>
            <a:r>
              <a:rPr lang="de-DE" dirty="0"/>
              <a:t>Create </a:t>
            </a:r>
            <a:r>
              <a:rPr lang="de-DE" dirty="0" err="1"/>
              <a:t>publication-ready</a:t>
            </a:r>
            <a:r>
              <a:rPr lang="de-DE" dirty="0"/>
              <a:t> </a:t>
            </a:r>
            <a:r>
              <a:rPr lang="de-DE" dirty="0" err="1"/>
              <a:t>plots</a:t>
            </a:r>
            <a:r>
              <a:rPr lang="de-DE" dirty="0"/>
              <a:t> and </a:t>
            </a:r>
            <a:r>
              <a:rPr lang="de-DE" dirty="0" err="1"/>
              <a:t>tables</a:t>
            </a:r>
            <a:r>
              <a:rPr lang="de-DE" dirty="0"/>
              <a:t> </a:t>
            </a:r>
            <a:r>
              <a:rPr lang="de-DE" dirty="0" err="1"/>
              <a:t>with</a:t>
            </a:r>
            <a:r>
              <a:rPr lang="de-DE" dirty="0"/>
              <a:t> minimal </a:t>
            </a:r>
            <a:r>
              <a:rPr lang="de-DE" dirty="0" err="1"/>
              <a:t>effort</a:t>
            </a:r>
            <a:endParaRPr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" fill="hold">
                      <p:stCondLst>
                        <p:cond delay="indefinite"/>
                      </p:stCondLst>
                      <p:childTnLst>
                        <p:par>
                          <p:cTn id="10" fill="hold">
                            <p:stCondLst>
                              <p:cond delay="0"/>
                            </p:stCondLst>
                            <p:childTnLst>
                              <p:par>
                                <p:cTn id="11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7" fill="hold">
                      <p:stCondLst>
                        <p:cond delay="indefinite"/>
                      </p:stCondLst>
                      <p:childTnLst>
                        <p:par>
                          <p:cTn id="18" fill="hold">
                            <p:stCondLst>
                              <p:cond delay="0"/>
                            </p:stCondLst>
                            <p:childTnLst>
                              <p:par>
                                <p:cTn id="1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1" fill="hold">
                      <p:stCondLst>
                        <p:cond delay="indefinite"/>
                      </p:stCondLst>
                      <p:childTnLst>
                        <p:par>
                          <p:cTn id="22" fill="hold">
                            <p:stCondLst>
                              <p:cond delay="0"/>
                            </p:stCondLst>
                            <p:childTnLst>
                              <p:par>
                                <p:cTn id="2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5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7" fill="hold">
                      <p:stCondLst>
                        <p:cond delay="indefinite"/>
                      </p:stCondLst>
                      <p:childTnLst>
                        <p:par>
                          <p:cTn id="28" fill="hold">
                            <p:stCondLst>
                              <p:cond delay="0"/>
                            </p:stCondLst>
                            <p:childTnLst>
                              <p:par>
                                <p:cTn id="2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>
                                            <p:txEl>
                                              <p:pRg st="9" end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5" fill="hold">
                      <p:stCondLst>
                        <p:cond delay="indefinite"/>
                      </p:stCondLst>
                      <p:childTnLst>
                        <p:par>
                          <p:cTn id="36" fill="hold">
                            <p:stCondLst>
                              <p:cond delay="0"/>
                            </p:stCondLst>
                            <p:childTnLst>
                              <p:par>
                                <p:cTn id="37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>
                                            <p:txEl>
                                              <p:pRg st="10" end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9" fill="hold">
                      <p:stCondLst>
                        <p:cond delay="indefinite"/>
                      </p:stCondLst>
                      <p:childTnLst>
                        <p:par>
                          <p:cTn id="40" fill="hold">
                            <p:stCondLst>
                              <p:cond delay="0"/>
                            </p:stCondLst>
                            <p:childTnLst>
                              <p:par>
                                <p:cTn id="41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>
                                            <p:txEl>
                                              <p:pRg st="11" end="1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>
                                            <p:txEl>
                                              <p:pRg st="12" end="1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7" fill="hold">
                      <p:stCondLst>
                        <p:cond delay="indefinite"/>
                      </p:stCondLst>
                      <p:childTnLst>
                        <p:par>
                          <p:cTn id="48" fill="hold">
                            <p:stCondLst>
                              <p:cond delay="0"/>
                            </p:stCondLst>
                            <p:childTnLst>
                              <p:par>
                                <p:cTn id="4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>
                                            <p:txEl>
                                              <p:pRg st="13" end="1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1" fill="hold">
                      <p:stCondLst>
                        <p:cond delay="indefinite"/>
                      </p:stCondLst>
                      <p:childTnLst>
                        <p:par>
                          <p:cTn id="52" fill="hold">
                            <p:stCondLst>
                              <p:cond delay="0"/>
                            </p:stCondLst>
                            <p:childTnLst>
                              <p:par>
                                <p:cTn id="5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>
                                            <p:txEl>
                                              <p:pRg st="14" end="1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5" fill="hold">
                      <p:stCondLst>
                        <p:cond delay="indefinite"/>
                      </p:stCondLst>
                      <p:childTnLst>
                        <p:par>
                          <p:cTn id="56" fill="hold">
                            <p:stCondLst>
                              <p:cond delay="0"/>
                            </p:stCondLst>
                            <p:childTnLst>
                              <p:par>
                                <p:cTn id="57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>
                                            <p:txEl>
                                              <p:pRg st="15" end="1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9" fill="hold">
                      <p:stCondLst>
                        <p:cond delay="indefinite"/>
                      </p:stCondLst>
                      <p:childTnLst>
                        <p:par>
                          <p:cTn id="60" fill="hold">
                            <p:stCondLst>
                              <p:cond delay="0"/>
                            </p:stCondLst>
                            <p:childTnLst>
                              <p:par>
                                <p:cTn id="61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>
                                            <p:txEl>
                                              <p:pRg st="16" end="1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66DAF58-959A-49C5-E6FC-57E1D8A6936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5E0F4E41-0A25-B1DA-BC47-2283EE43DF45}"/>
              </a:ext>
            </a:extLst>
          </p:cNvPr>
          <p:cNvSpPr txBox="1"/>
          <p:nvPr/>
        </p:nvSpPr>
        <p:spPr>
          <a:xfrm>
            <a:off x="795528" y="210312"/>
            <a:ext cx="7772400" cy="49859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400" b="1">
                <a:solidFill>
                  <a:srgbClr val="1E3246"/>
                </a:solidFill>
              </a:defRPr>
            </a:pPr>
            <a:r>
              <a:rPr lang="de-DE" sz="2400" b="1" dirty="0">
                <a:solidFill>
                  <a:srgbClr val="1E3246"/>
                </a:solidFill>
              </a:rPr>
              <a:t>How </a:t>
            </a:r>
            <a:r>
              <a:rPr lang="de-DE" sz="2400" b="1" dirty="0" err="1">
                <a:solidFill>
                  <a:srgbClr val="1E3246"/>
                </a:solidFill>
              </a:rPr>
              <a:t>to</a:t>
            </a:r>
            <a:r>
              <a:rPr lang="de-DE" sz="2400" b="1" dirty="0">
                <a:solidFill>
                  <a:srgbClr val="1E3246"/>
                </a:solidFill>
              </a:rPr>
              <a:t> </a:t>
            </a:r>
            <a:r>
              <a:rPr lang="de-DE" sz="2400" b="1" dirty="0" err="1">
                <a:solidFill>
                  <a:srgbClr val="1E3246"/>
                </a:solidFill>
              </a:rPr>
              <a:t>install</a:t>
            </a:r>
            <a:r>
              <a:rPr lang="de-DE" sz="2400" b="1" dirty="0">
                <a:solidFill>
                  <a:srgbClr val="1E3246"/>
                </a:solidFill>
              </a:rPr>
              <a:t> Table Analyzer (1)</a:t>
            </a:r>
          </a:p>
          <a:p>
            <a:endParaRPr lang="en-US" b="1" dirty="0"/>
          </a:p>
          <a:p>
            <a:pPr marL="342900" indent="-342900">
              <a:buAutoNum type="arabicPeriod"/>
            </a:pPr>
            <a:r>
              <a:rPr lang="en-US" sz="2000" b="1" dirty="0"/>
              <a:t>Install R 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2000" dirty="0"/>
              <a:t>Go to: </a:t>
            </a:r>
            <a:r>
              <a:rPr lang="en-US" sz="2000" b="1" dirty="0"/>
              <a:t>https://</a:t>
            </a:r>
            <a:r>
              <a:rPr lang="en-US" sz="2000" b="1" dirty="0" err="1"/>
              <a:t>cran.r-project.org</a:t>
            </a:r>
            <a:endParaRPr lang="en-US" sz="2000" dirty="0"/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2000" dirty="0"/>
              <a:t>Click your operating system (Windows / macOS / Linux)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2000" dirty="0"/>
              <a:t>Download and install </a:t>
            </a:r>
            <a:r>
              <a:rPr lang="en-US" sz="2000" b="1" dirty="0"/>
              <a:t>R</a:t>
            </a:r>
            <a:r>
              <a:rPr lang="en-US" sz="2000" dirty="0"/>
              <a:t> with the default settings</a:t>
            </a:r>
          </a:p>
          <a:p>
            <a:endParaRPr lang="en-US" sz="2000" b="1" dirty="0"/>
          </a:p>
          <a:p>
            <a:r>
              <a:rPr lang="en-US" sz="2000" b="1" dirty="0"/>
              <a:t>2. Install RStudio (the user-friendly interface)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2000" dirty="0"/>
              <a:t>Go to: </a:t>
            </a:r>
            <a:r>
              <a:rPr lang="en-US" sz="2000" b="1" dirty="0">
                <a:hlinkClick r:id="rId2"/>
              </a:rPr>
              <a:t>https://posit.co/download/rstudio-desktop</a:t>
            </a:r>
            <a:endParaRPr lang="en-US" sz="2000" dirty="0"/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2000" dirty="0"/>
              <a:t>Download </a:t>
            </a:r>
            <a:r>
              <a:rPr lang="en-US" sz="2000" b="1" dirty="0"/>
              <a:t>RStudio Desktop (free version)</a:t>
            </a:r>
            <a:endParaRPr lang="en-US" sz="2000" dirty="0"/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2000" dirty="0"/>
              <a:t>Install it with the default options</a:t>
            </a:r>
          </a:p>
          <a:p>
            <a:endParaRPr lang="en-US" sz="2000" b="1" dirty="0"/>
          </a:p>
          <a:p>
            <a:r>
              <a:rPr lang="en-US" sz="2000" b="1" dirty="0"/>
              <a:t>3. Download the app from </a:t>
            </a:r>
            <a:r>
              <a:rPr lang="en-US" sz="2000" b="1" dirty="0">
                <a:hlinkClick r:id="rId3"/>
              </a:rPr>
              <a:t>https://github.com/nicola-palmieri/TableAnalyzer</a:t>
            </a:r>
            <a:r>
              <a:rPr lang="en-US" sz="2000" b="1" dirty="0"/>
              <a:t> and extract the ZIP file</a:t>
            </a:r>
          </a:p>
          <a:p>
            <a:endParaRPr lang="en-US" b="1" dirty="0"/>
          </a:p>
          <a:p>
            <a:endParaRPr lang="de-DE" dirty="0"/>
          </a:p>
        </p:txBody>
      </p:sp>
    </p:spTree>
    <p:extLst>
      <p:ext uri="{BB962C8B-B14F-4D97-AF65-F5344CB8AC3E}">
        <p14:creationId xmlns:p14="http://schemas.microsoft.com/office/powerpoint/2010/main" val="2423903674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3453BA1-B689-5A60-8362-AAF051E6ECF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F72D040A-12EB-0E66-DC04-67189E074619}"/>
              </a:ext>
            </a:extLst>
          </p:cNvPr>
          <p:cNvSpPr txBox="1"/>
          <p:nvPr/>
        </p:nvSpPr>
        <p:spPr>
          <a:xfrm>
            <a:off x="795528" y="210312"/>
            <a:ext cx="7772400" cy="227754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400" b="1">
                <a:solidFill>
                  <a:srgbClr val="1E3246"/>
                </a:solidFill>
              </a:defRPr>
            </a:pPr>
            <a:r>
              <a:rPr lang="de-DE" sz="2400" b="1" dirty="0">
                <a:solidFill>
                  <a:srgbClr val="1E3246"/>
                </a:solidFill>
              </a:rPr>
              <a:t>How </a:t>
            </a:r>
            <a:r>
              <a:rPr lang="de-DE" sz="2400" b="1" dirty="0" err="1">
                <a:solidFill>
                  <a:srgbClr val="1E3246"/>
                </a:solidFill>
              </a:rPr>
              <a:t>to</a:t>
            </a:r>
            <a:r>
              <a:rPr lang="de-DE" sz="2400" b="1" dirty="0">
                <a:solidFill>
                  <a:srgbClr val="1E3246"/>
                </a:solidFill>
              </a:rPr>
              <a:t> </a:t>
            </a:r>
            <a:r>
              <a:rPr lang="de-DE" sz="2400" b="1" dirty="0" err="1">
                <a:solidFill>
                  <a:srgbClr val="1E3246"/>
                </a:solidFill>
              </a:rPr>
              <a:t>install</a:t>
            </a:r>
            <a:r>
              <a:rPr lang="de-DE" sz="2400" b="1" dirty="0">
                <a:solidFill>
                  <a:srgbClr val="1E3246"/>
                </a:solidFill>
              </a:rPr>
              <a:t> Table Analyzer (2)</a:t>
            </a:r>
          </a:p>
          <a:p>
            <a:endParaRPr lang="en-US" b="1" dirty="0"/>
          </a:p>
          <a:p>
            <a:r>
              <a:rPr lang="en-US" sz="2000" b="1" dirty="0"/>
              <a:t>4. Open </a:t>
            </a:r>
            <a:r>
              <a:rPr lang="en-US" sz="2000" b="1" dirty="0" err="1"/>
              <a:t>Rstudio</a:t>
            </a:r>
            <a:endParaRPr lang="en-US" sz="2000" b="1" dirty="0"/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2000" dirty="0"/>
              <a:t>Go to File </a:t>
            </a:r>
            <a:r>
              <a:rPr lang="en-US" sz="2000" dirty="0">
                <a:sym typeface="Wingdings" pitchFamily="2" charset="2"/>
              </a:rPr>
              <a:t> New project  Existing directory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2000" dirty="0">
                <a:sym typeface="Wingdings" pitchFamily="2" charset="2"/>
              </a:rPr>
              <a:t>Set the app folder in the path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2000" dirty="0">
                <a:sym typeface="Wingdings" pitchFamily="2" charset="2"/>
              </a:rPr>
              <a:t>Install the app typing the following command in the console</a:t>
            </a:r>
            <a:endParaRPr lang="en-US" sz="2000" dirty="0"/>
          </a:p>
          <a:p>
            <a:pPr marL="742950" lvl="1" indent="-285750">
              <a:buFont typeface="Arial" panose="020B0604020202020204" pitchFamily="34" charset="0"/>
              <a:buChar char="•"/>
              <a:defRPr sz="1800">
                <a:solidFill>
                  <a:srgbClr val="3C3C3C"/>
                </a:solidFill>
              </a:defRPr>
            </a:pPr>
            <a:endParaRPr lang="de-DE" sz="2000" dirty="0"/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FA59EF92-E821-8EE0-B2AE-668B3448C902}"/>
              </a:ext>
            </a:extLst>
          </p:cNvPr>
          <p:cNvSpPr txBox="1"/>
          <p:nvPr/>
        </p:nvSpPr>
        <p:spPr>
          <a:xfrm>
            <a:off x="795528" y="2218356"/>
            <a:ext cx="8544908" cy="132343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1600" dirty="0" err="1">
                <a:latin typeface="Fira Mono" panose="020B0509050000020004" pitchFamily="49" charset="0"/>
                <a:ea typeface="Fira Mono" panose="020B0509050000020004" pitchFamily="49" charset="0"/>
              </a:rPr>
              <a:t>install.packages</a:t>
            </a:r>
            <a:r>
              <a:rPr lang="en-US" sz="1600" dirty="0">
                <a:latin typeface="Fira Mono" panose="020B0509050000020004" pitchFamily="49" charset="0"/>
                <a:ea typeface="Fira Mono" panose="020B0509050000020004" pitchFamily="49" charset="0"/>
              </a:rPr>
              <a:t>(c(</a:t>
            </a:r>
          </a:p>
          <a:p>
            <a:r>
              <a:rPr lang="en-US" sz="1600" dirty="0">
                <a:latin typeface="Fira Mono" panose="020B0509050000020004" pitchFamily="49" charset="0"/>
                <a:ea typeface="Fira Mono" panose="020B0509050000020004" pitchFamily="49" charset="0"/>
              </a:rPr>
              <a:t>  "</a:t>
            </a:r>
            <a:r>
              <a:rPr lang="en-US" sz="1600" dirty="0" err="1">
                <a:latin typeface="Fira Mono" panose="020B0509050000020004" pitchFamily="49" charset="0"/>
                <a:ea typeface="Fira Mono" panose="020B0509050000020004" pitchFamily="49" charset="0"/>
              </a:rPr>
              <a:t>bslib</a:t>
            </a:r>
            <a:r>
              <a:rPr lang="en-US" sz="1600" dirty="0">
                <a:latin typeface="Fira Mono" panose="020B0509050000020004" pitchFamily="49" charset="0"/>
                <a:ea typeface="Fira Mono" panose="020B0509050000020004" pitchFamily="49" charset="0"/>
              </a:rPr>
              <a:t>", "</a:t>
            </a:r>
            <a:r>
              <a:rPr lang="en-US" sz="1600" dirty="0" err="1">
                <a:latin typeface="Fira Mono" panose="020B0509050000020004" pitchFamily="49" charset="0"/>
                <a:ea typeface="Fira Mono" panose="020B0509050000020004" pitchFamily="49" charset="0"/>
              </a:rPr>
              <a:t>dplyr</a:t>
            </a:r>
            <a:r>
              <a:rPr lang="en-US" sz="1600" dirty="0">
                <a:latin typeface="Fira Mono" panose="020B0509050000020004" pitchFamily="49" charset="0"/>
                <a:ea typeface="Fira Mono" panose="020B0509050000020004" pitchFamily="49" charset="0"/>
              </a:rPr>
              <a:t>", "DT", "</a:t>
            </a:r>
            <a:r>
              <a:rPr lang="en-US" sz="1600" dirty="0" err="1">
                <a:latin typeface="Fira Mono" panose="020B0509050000020004" pitchFamily="49" charset="0"/>
                <a:ea typeface="Fira Mono" panose="020B0509050000020004" pitchFamily="49" charset="0"/>
              </a:rPr>
              <a:t>emmeans</a:t>
            </a:r>
            <a:r>
              <a:rPr lang="en-US" sz="1600" dirty="0">
                <a:latin typeface="Fira Mono" panose="020B0509050000020004" pitchFamily="49" charset="0"/>
                <a:ea typeface="Fira Mono" panose="020B0509050000020004" pitchFamily="49" charset="0"/>
              </a:rPr>
              <a:t>", "</a:t>
            </a:r>
            <a:r>
              <a:rPr lang="en-US" sz="1600" dirty="0" err="1">
                <a:latin typeface="Fira Mono" panose="020B0509050000020004" pitchFamily="49" charset="0"/>
                <a:ea typeface="Fira Mono" panose="020B0509050000020004" pitchFamily="49" charset="0"/>
              </a:rPr>
              <a:t>fitdistrplus</a:t>
            </a:r>
            <a:r>
              <a:rPr lang="en-US" sz="1600" dirty="0">
                <a:latin typeface="Fira Mono" panose="020B0509050000020004" pitchFamily="49" charset="0"/>
                <a:ea typeface="Fira Mono" panose="020B0509050000020004" pitchFamily="49" charset="0"/>
              </a:rPr>
              <a:t>", "</a:t>
            </a:r>
            <a:r>
              <a:rPr lang="en-US" sz="1600" dirty="0" err="1">
                <a:latin typeface="Fira Mono" panose="020B0509050000020004" pitchFamily="49" charset="0"/>
                <a:ea typeface="Fira Mono" panose="020B0509050000020004" pitchFamily="49" charset="0"/>
              </a:rPr>
              <a:t>flextable</a:t>
            </a:r>
            <a:r>
              <a:rPr lang="en-US" sz="1600" dirty="0">
                <a:latin typeface="Fira Mono" panose="020B0509050000020004" pitchFamily="49" charset="0"/>
                <a:ea typeface="Fira Mono" panose="020B0509050000020004" pitchFamily="49" charset="0"/>
              </a:rPr>
              <a:t>",</a:t>
            </a:r>
          </a:p>
          <a:p>
            <a:r>
              <a:rPr lang="en-US" sz="1600" dirty="0">
                <a:latin typeface="Fira Mono" panose="020B0509050000020004" pitchFamily="49" charset="0"/>
                <a:ea typeface="Fira Mono" panose="020B0509050000020004" pitchFamily="49" charset="0"/>
              </a:rPr>
              <a:t>  "</a:t>
            </a:r>
            <a:r>
              <a:rPr lang="en-US" sz="1600" dirty="0" err="1">
                <a:latin typeface="Fira Mono" panose="020B0509050000020004" pitchFamily="49" charset="0"/>
                <a:ea typeface="Fira Mono" panose="020B0509050000020004" pitchFamily="49" charset="0"/>
              </a:rPr>
              <a:t>GGally</a:t>
            </a:r>
            <a:r>
              <a:rPr lang="en-US" sz="1600" dirty="0">
                <a:latin typeface="Fira Mono" panose="020B0509050000020004" pitchFamily="49" charset="0"/>
                <a:ea typeface="Fira Mono" panose="020B0509050000020004" pitchFamily="49" charset="0"/>
              </a:rPr>
              <a:t>", "ggplot2", "</a:t>
            </a:r>
            <a:r>
              <a:rPr lang="en-US" sz="1600" dirty="0" err="1">
                <a:latin typeface="Fira Mono" panose="020B0509050000020004" pitchFamily="49" charset="0"/>
                <a:ea typeface="Fira Mono" panose="020B0509050000020004" pitchFamily="49" charset="0"/>
              </a:rPr>
              <a:t>lmerTest</a:t>
            </a:r>
            <a:r>
              <a:rPr lang="en-US" sz="1600" dirty="0">
                <a:latin typeface="Fira Mono" panose="020B0509050000020004" pitchFamily="49" charset="0"/>
                <a:ea typeface="Fira Mono" panose="020B0509050000020004" pitchFamily="49" charset="0"/>
              </a:rPr>
              <a:t>", "officer", "patchwork",</a:t>
            </a:r>
          </a:p>
          <a:p>
            <a:r>
              <a:rPr lang="en-US" sz="1600" dirty="0">
                <a:latin typeface="Fira Mono" panose="020B0509050000020004" pitchFamily="49" charset="0"/>
                <a:ea typeface="Fira Mono" panose="020B0509050000020004" pitchFamily="49" charset="0"/>
              </a:rPr>
              <a:t>  "</a:t>
            </a:r>
            <a:r>
              <a:rPr lang="en-US" sz="1600" dirty="0" err="1">
                <a:latin typeface="Fira Mono" panose="020B0509050000020004" pitchFamily="49" charset="0"/>
                <a:ea typeface="Fira Mono" panose="020B0509050000020004" pitchFamily="49" charset="0"/>
              </a:rPr>
              <a:t>readxl</a:t>
            </a:r>
            <a:r>
              <a:rPr lang="en-US" sz="1600" dirty="0">
                <a:latin typeface="Fira Mono" panose="020B0509050000020004" pitchFamily="49" charset="0"/>
                <a:ea typeface="Fira Mono" panose="020B0509050000020004" pitchFamily="49" charset="0"/>
              </a:rPr>
              <a:t>", "shiny", "</a:t>
            </a:r>
            <a:r>
              <a:rPr lang="en-US" sz="1600" dirty="0" err="1">
                <a:latin typeface="Fira Mono" panose="020B0509050000020004" pitchFamily="49" charset="0"/>
                <a:ea typeface="Fira Mono" panose="020B0509050000020004" pitchFamily="49" charset="0"/>
              </a:rPr>
              <a:t>skimr</a:t>
            </a:r>
            <a:r>
              <a:rPr lang="en-US" sz="1600" dirty="0">
                <a:latin typeface="Fira Mono" panose="020B0509050000020004" pitchFamily="49" charset="0"/>
                <a:ea typeface="Fira Mono" panose="020B0509050000020004" pitchFamily="49" charset="0"/>
              </a:rPr>
              <a:t>", "</a:t>
            </a:r>
            <a:r>
              <a:rPr lang="en-US" sz="1600" dirty="0" err="1">
                <a:latin typeface="Fira Mono" panose="020B0509050000020004" pitchFamily="49" charset="0"/>
                <a:ea typeface="Fira Mono" panose="020B0509050000020004" pitchFamily="49" charset="0"/>
              </a:rPr>
              <a:t>tidyr</a:t>
            </a:r>
            <a:r>
              <a:rPr lang="en-US" sz="1600" dirty="0">
                <a:latin typeface="Fira Mono" panose="020B0509050000020004" pitchFamily="49" charset="0"/>
                <a:ea typeface="Fira Mono" panose="020B0509050000020004" pitchFamily="49" charset="0"/>
              </a:rPr>
              <a:t>", "zoo"</a:t>
            </a:r>
          </a:p>
          <a:p>
            <a:r>
              <a:rPr lang="en-US" sz="1600" dirty="0">
                <a:latin typeface="Fira Mono" panose="020B0509050000020004" pitchFamily="49" charset="0"/>
                <a:ea typeface="Fira Mono" panose="020B0509050000020004" pitchFamily="49" charset="0"/>
              </a:rPr>
              <a:t>))</a:t>
            </a: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BE14B250-D01B-DFF1-A709-B695B282EF0F}"/>
              </a:ext>
            </a:extLst>
          </p:cNvPr>
          <p:cNvSpPr txBox="1"/>
          <p:nvPr/>
        </p:nvSpPr>
        <p:spPr>
          <a:xfrm>
            <a:off x="795528" y="3673470"/>
            <a:ext cx="7772400" cy="6771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2000" dirty="0">
                <a:sym typeface="Wingdings" pitchFamily="2" charset="2"/>
              </a:rPr>
              <a:t>Run the app with the command</a:t>
            </a:r>
            <a:endParaRPr lang="en-US" sz="2000" dirty="0"/>
          </a:p>
          <a:p>
            <a:pPr marL="742950" lvl="1" indent="-285750">
              <a:buFont typeface="Arial" panose="020B0604020202020204" pitchFamily="34" charset="0"/>
              <a:buChar char="•"/>
              <a:defRPr sz="1800">
                <a:solidFill>
                  <a:srgbClr val="3C3C3C"/>
                </a:solidFill>
              </a:defRPr>
            </a:pPr>
            <a:endParaRPr lang="de-DE" dirty="0"/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1B3E4D73-8C9B-3CEF-B3C3-70AFECF0104A}"/>
              </a:ext>
            </a:extLst>
          </p:cNvPr>
          <p:cNvSpPr txBox="1"/>
          <p:nvPr/>
        </p:nvSpPr>
        <p:spPr>
          <a:xfrm>
            <a:off x="795528" y="4226400"/>
            <a:ext cx="8544908" cy="33855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1600" dirty="0">
                <a:latin typeface="Fira Mono" panose="020B0509050000020004" pitchFamily="49" charset="0"/>
                <a:ea typeface="Fira Mono" panose="020B0509050000020004" pitchFamily="49" charset="0"/>
              </a:rPr>
              <a:t>shiny::</a:t>
            </a:r>
            <a:r>
              <a:rPr lang="en-US" sz="1600" dirty="0" err="1">
                <a:latin typeface="Fira Mono" panose="020B0509050000020004" pitchFamily="49" charset="0"/>
                <a:ea typeface="Fira Mono" panose="020B0509050000020004" pitchFamily="49" charset="0"/>
              </a:rPr>
              <a:t>runApp</a:t>
            </a:r>
            <a:r>
              <a:rPr lang="en-US" sz="1600" dirty="0">
                <a:latin typeface="Fira Mono" panose="020B0509050000020004" pitchFamily="49" charset="0"/>
                <a:ea typeface="Fira Mono" panose="020B0509050000020004" pitchFamily="49" charset="0"/>
              </a:rPr>
              <a:t>()</a:t>
            </a:r>
          </a:p>
        </p:txBody>
      </p:sp>
    </p:spTree>
    <p:extLst>
      <p:ext uri="{BB962C8B-B14F-4D97-AF65-F5344CB8AC3E}">
        <p14:creationId xmlns:p14="http://schemas.microsoft.com/office/powerpoint/2010/main" val="356127022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A392F7B-3EF3-7FC5-E2A3-395E2B863D0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795750A-75E2-B0E3-2EF7-A0941E20955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NOTES on DESCRIPTIVE STATISTICS</a:t>
            </a:r>
          </a:p>
        </p:txBody>
      </p:sp>
    </p:spTree>
    <p:extLst>
      <p:ext uri="{BB962C8B-B14F-4D97-AF65-F5344CB8AC3E}">
        <p14:creationId xmlns:p14="http://schemas.microsoft.com/office/powerpoint/2010/main" val="3562210455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Picture 1">
            <a:extLst>
              <a:ext uri="{FF2B5EF4-FFF2-40B4-BE49-F238E27FC236}">
                <a16:creationId xmlns:a16="http://schemas.microsoft.com/office/drawing/2014/main" id="{34CEDA3D-D375-7049-2BD7-362BEBF2D0E5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85800" y="838200"/>
            <a:ext cx="7772400" cy="5181600"/>
          </a:xfrm>
          <a:prstGeom prst="rect">
            <a:avLst/>
          </a:prstGeom>
        </p:spPr>
      </p:pic>
      <p:sp>
        <p:nvSpPr>
          <p:cNvPr id="5" name="TextBox 4">
            <a:extLst>
              <a:ext uri="{FF2B5EF4-FFF2-40B4-BE49-F238E27FC236}">
                <a16:creationId xmlns:a16="http://schemas.microsoft.com/office/drawing/2014/main" id="{471891F4-7442-C642-A4F9-E1D264E8EFA4}"/>
              </a:ext>
            </a:extLst>
          </p:cNvPr>
          <p:cNvSpPr txBox="1"/>
          <p:nvPr/>
        </p:nvSpPr>
        <p:spPr>
          <a:xfrm>
            <a:off x="685800" y="241002"/>
            <a:ext cx="4572000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buNone/>
            </a:pPr>
            <a:r>
              <a:rPr lang="en-US" b="1" dirty="0"/>
              <a:t>🐔 Examples for different data distributions</a:t>
            </a:r>
          </a:p>
        </p:txBody>
      </p:sp>
    </p:spTree>
    <p:extLst>
      <p:ext uri="{BB962C8B-B14F-4D97-AF65-F5344CB8AC3E}">
        <p14:creationId xmlns:p14="http://schemas.microsoft.com/office/powerpoint/2010/main" val="849029243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Box 2">
            <a:extLst>
              <a:ext uri="{FF2B5EF4-FFF2-40B4-BE49-F238E27FC236}">
                <a16:creationId xmlns:a16="http://schemas.microsoft.com/office/drawing/2014/main" id="{497561EF-BC14-FB89-F5EC-1A4679BB08EE}"/>
              </a:ext>
            </a:extLst>
          </p:cNvPr>
          <p:cNvSpPr txBox="1"/>
          <p:nvPr/>
        </p:nvSpPr>
        <p:spPr>
          <a:xfrm>
            <a:off x="105103" y="181957"/>
            <a:ext cx="9301655" cy="649408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buNone/>
            </a:pPr>
            <a:r>
              <a:rPr lang="en-US" sz="1600" b="1" dirty="0"/>
              <a:t>🐔 What the Different Statistical Distributions Mean</a:t>
            </a:r>
          </a:p>
          <a:p>
            <a:pPr>
              <a:buNone/>
            </a:pPr>
            <a:endParaRPr lang="en-US" sz="1600" b="1" dirty="0"/>
          </a:p>
          <a:p>
            <a:pPr>
              <a:buNone/>
            </a:pPr>
            <a:r>
              <a:rPr lang="en-US" sz="1600" b="1" dirty="0"/>
              <a:t>Normal distribution</a:t>
            </a:r>
          </a:p>
          <a:p>
            <a:pPr>
              <a:buFont typeface="Arial" panose="020B0604020202020204" pitchFamily="34" charset="0"/>
              <a:buChar char="•"/>
            </a:pPr>
            <a:r>
              <a:rPr lang="en-US" sz="1600" dirty="0"/>
              <a:t> Classic “bell-shaped” pattern.</a:t>
            </a:r>
          </a:p>
          <a:p>
            <a:pPr>
              <a:buFont typeface="Arial" panose="020B0604020202020204" pitchFamily="34" charset="0"/>
              <a:buChar char="•"/>
            </a:pPr>
            <a:r>
              <a:rPr lang="en-US" sz="1600" dirty="0"/>
              <a:t> Most animals cluster around an average value.</a:t>
            </a:r>
          </a:p>
          <a:p>
            <a:pPr>
              <a:buFont typeface="Arial" panose="020B0604020202020204" pitchFamily="34" charset="0"/>
              <a:buChar char="•"/>
            </a:pPr>
            <a:r>
              <a:rPr lang="en-US" sz="1600" dirty="0"/>
              <a:t> Good for traits with natural biological symmetry (e.g., body weight in a uniform flock).</a:t>
            </a:r>
          </a:p>
          <a:p>
            <a:pPr>
              <a:buNone/>
            </a:pPr>
            <a:endParaRPr lang="en-US" sz="1600" b="1" dirty="0"/>
          </a:p>
          <a:p>
            <a:pPr>
              <a:buNone/>
            </a:pPr>
            <a:r>
              <a:rPr lang="en-US" sz="1600" b="1" dirty="0"/>
              <a:t>Log-normal distribution</a:t>
            </a:r>
          </a:p>
          <a:p>
            <a:pPr>
              <a:buFont typeface="Arial" panose="020B0604020202020204" pitchFamily="34" charset="0"/>
              <a:buChar char="•"/>
            </a:pPr>
            <a:r>
              <a:rPr lang="en-US" sz="1600" dirty="0"/>
              <a:t> Always positive, with a long tail to the right.</a:t>
            </a:r>
          </a:p>
          <a:p>
            <a:pPr>
              <a:buFont typeface="Arial" panose="020B0604020202020204" pitchFamily="34" charset="0"/>
              <a:buChar char="•"/>
            </a:pPr>
            <a:r>
              <a:rPr lang="en-US" sz="1600" dirty="0"/>
              <a:t> Many animals have low values, few animals have very high values.</a:t>
            </a:r>
          </a:p>
          <a:p>
            <a:pPr>
              <a:buFont typeface="Arial" panose="020B0604020202020204" pitchFamily="34" charset="0"/>
              <a:buChar char="•"/>
            </a:pPr>
            <a:r>
              <a:rPr lang="en-US" sz="1600" dirty="0"/>
              <a:t> Typical for hormone levels, parasites, and any measurement that multiplies rather than adds.</a:t>
            </a:r>
          </a:p>
          <a:p>
            <a:pPr>
              <a:buNone/>
            </a:pPr>
            <a:endParaRPr lang="en-US" sz="1600" b="1" dirty="0"/>
          </a:p>
          <a:p>
            <a:pPr>
              <a:buNone/>
            </a:pPr>
            <a:r>
              <a:rPr lang="en-US" sz="1600" b="1" dirty="0"/>
              <a:t>Gamma distribution</a:t>
            </a:r>
          </a:p>
          <a:p>
            <a:pPr>
              <a:buFont typeface="Arial" panose="020B0604020202020204" pitchFamily="34" charset="0"/>
              <a:buChar char="•"/>
            </a:pPr>
            <a:r>
              <a:rPr lang="en-US" sz="1600" dirty="0"/>
              <a:t> Positive-only, skewed to the right.</a:t>
            </a:r>
          </a:p>
          <a:p>
            <a:pPr>
              <a:buFont typeface="Arial" panose="020B0604020202020204" pitchFamily="34" charset="0"/>
              <a:buChar char="•"/>
            </a:pPr>
            <a:r>
              <a:rPr lang="en-US" sz="1600" dirty="0"/>
              <a:t> Suited for measurements that cannot go below zero and vary a lot.</a:t>
            </a:r>
          </a:p>
          <a:p>
            <a:pPr>
              <a:buFont typeface="Arial" panose="020B0604020202020204" pitchFamily="34" charset="0"/>
              <a:buChar char="•"/>
            </a:pPr>
            <a:r>
              <a:rPr lang="en-US" sz="1600" dirty="0"/>
              <a:t> Common for time-to-event data, inflammation markers, or enzyme activities.</a:t>
            </a:r>
          </a:p>
          <a:p>
            <a:pPr>
              <a:buNone/>
            </a:pPr>
            <a:endParaRPr lang="en-US" sz="1600" b="1" dirty="0"/>
          </a:p>
          <a:p>
            <a:pPr>
              <a:buNone/>
            </a:pPr>
            <a:r>
              <a:rPr lang="en-US" sz="1600" b="1" dirty="0"/>
              <a:t>Weibull distribution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1600" dirty="0"/>
              <a:t>Positive-only and flexible in shape.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1600" dirty="0"/>
              <a:t>Can be sharply rising or gently curved depending on the data.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1600" dirty="0"/>
              <a:t>Appears in measurements that change pace over time, such as growth or production curves.</a:t>
            </a:r>
          </a:p>
          <a:p>
            <a:pPr>
              <a:buNone/>
            </a:pPr>
            <a:endParaRPr lang="en-US" sz="1600" b="1" dirty="0"/>
          </a:p>
          <a:p>
            <a:pPr>
              <a:buNone/>
            </a:pPr>
            <a:r>
              <a:rPr lang="en-US" sz="1600" b="1" dirty="0"/>
              <a:t>Exponential distribution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1600" dirty="0"/>
              <a:t>Positive-only with a rapid drop-off.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1600" dirty="0"/>
              <a:t>Small values occur often, large values are rare.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1600" dirty="0"/>
              <a:t>Seen in quick biological processes where most observations cluster near the lower end.</a:t>
            </a:r>
          </a:p>
        </p:txBody>
      </p:sp>
    </p:spTree>
    <p:extLst>
      <p:ext uri="{BB962C8B-B14F-4D97-AF65-F5344CB8AC3E}">
        <p14:creationId xmlns:p14="http://schemas.microsoft.com/office/powerpoint/2010/main" val="2519704046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D8425F9-559C-0F6B-725C-194ECB06305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Box 2">
            <a:extLst>
              <a:ext uri="{FF2B5EF4-FFF2-40B4-BE49-F238E27FC236}">
                <a16:creationId xmlns:a16="http://schemas.microsoft.com/office/drawing/2014/main" id="{19058F75-3AB2-8557-E484-EF2D859A2E13}"/>
              </a:ext>
            </a:extLst>
          </p:cNvPr>
          <p:cNvSpPr txBox="1"/>
          <p:nvPr/>
        </p:nvSpPr>
        <p:spPr>
          <a:xfrm>
            <a:off x="331075" y="565291"/>
            <a:ext cx="8481849" cy="5078313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buNone/>
            </a:pPr>
            <a:r>
              <a:rPr lang="en-US" b="1" dirty="0"/>
              <a:t>🐔 Understanding Skewness and Kurtosis</a:t>
            </a:r>
          </a:p>
          <a:p>
            <a:pPr>
              <a:buNone/>
            </a:pPr>
            <a:endParaRPr lang="en-US" b="1" dirty="0"/>
          </a:p>
          <a:p>
            <a:pPr>
              <a:buNone/>
            </a:pPr>
            <a:r>
              <a:rPr lang="en-US" b="1" dirty="0"/>
              <a:t>Skewness (asymmetry of the data)</a:t>
            </a:r>
          </a:p>
          <a:p>
            <a:pPr>
              <a:buFont typeface="Arial" panose="020B0604020202020204" pitchFamily="34" charset="0"/>
              <a:buChar char="•"/>
            </a:pPr>
            <a:r>
              <a:rPr lang="en-US" b="1" dirty="0"/>
              <a:t> Zero skewness:</a:t>
            </a:r>
            <a:r>
              <a:rPr lang="en-US" dirty="0"/>
              <a:t> data is symmetric (classic bell shape)</a:t>
            </a:r>
          </a:p>
          <a:p>
            <a:pPr>
              <a:buFont typeface="Arial" panose="020B0604020202020204" pitchFamily="34" charset="0"/>
              <a:buChar char="•"/>
            </a:pPr>
            <a:r>
              <a:rPr lang="en-US" b="1" dirty="0"/>
              <a:t> Positive skewness:</a:t>
            </a:r>
            <a:r>
              <a:rPr lang="en-US" dirty="0"/>
              <a:t> long tail to the </a:t>
            </a:r>
            <a:r>
              <a:rPr lang="en-US" b="1" dirty="0"/>
              <a:t>right</a:t>
            </a:r>
            <a:endParaRPr lang="en-US" dirty="0"/>
          </a:p>
          <a:p>
            <a:pPr marL="742950" lvl="1" indent="-285750">
              <a:buFont typeface="Arial" panose="020B0604020202020204" pitchFamily="34" charset="0"/>
              <a:buChar char="•"/>
            </a:pPr>
            <a:r>
              <a:rPr lang="en-US" dirty="0"/>
              <a:t>Many animals have low values, few have very high ones</a:t>
            </a:r>
          </a:p>
          <a:p>
            <a:pPr marL="742950" lvl="1" indent="-285750">
              <a:buFont typeface="Arial" panose="020B0604020202020204" pitchFamily="34" charset="0"/>
              <a:buChar char="•"/>
            </a:pPr>
            <a:r>
              <a:rPr lang="en-US" dirty="0"/>
              <a:t>Common for hormones, parasites, biomarkers</a:t>
            </a:r>
          </a:p>
          <a:p>
            <a:pPr>
              <a:buFont typeface="Arial" panose="020B0604020202020204" pitchFamily="34" charset="0"/>
              <a:buChar char="•"/>
            </a:pPr>
            <a:r>
              <a:rPr lang="en-US" b="1" dirty="0"/>
              <a:t> Negative skewness:</a:t>
            </a:r>
            <a:r>
              <a:rPr lang="en-US" dirty="0"/>
              <a:t> long tail to the </a:t>
            </a:r>
            <a:r>
              <a:rPr lang="en-US" b="1" dirty="0"/>
              <a:t>left</a:t>
            </a:r>
            <a:endParaRPr lang="en-US" dirty="0"/>
          </a:p>
          <a:p>
            <a:pPr marL="742950" lvl="1" indent="-285750">
              <a:buFont typeface="Arial" panose="020B0604020202020204" pitchFamily="34" charset="0"/>
              <a:buChar char="•"/>
            </a:pPr>
            <a:r>
              <a:rPr lang="en-US" dirty="0"/>
              <a:t>Many high values, few low ones</a:t>
            </a:r>
          </a:p>
          <a:p>
            <a:pPr marL="742950" lvl="1" indent="-285750">
              <a:buFont typeface="Arial" panose="020B0604020202020204" pitchFamily="34" charset="0"/>
              <a:buChar char="•"/>
            </a:pPr>
            <a:r>
              <a:rPr lang="en-US" dirty="0"/>
              <a:t>Less common but possible in clinical measurements</a:t>
            </a:r>
          </a:p>
          <a:p>
            <a:pPr>
              <a:buNone/>
            </a:pPr>
            <a:endParaRPr lang="en-US" dirty="0"/>
          </a:p>
          <a:p>
            <a:pPr>
              <a:buNone/>
            </a:pPr>
            <a:r>
              <a:rPr lang="en-US" b="1" dirty="0"/>
              <a:t>Kurtosis (heaviness of the tails)</a:t>
            </a:r>
          </a:p>
          <a:p>
            <a:pPr>
              <a:buFont typeface="Arial" panose="020B0604020202020204" pitchFamily="34" charset="0"/>
              <a:buChar char="•"/>
            </a:pPr>
            <a:r>
              <a:rPr lang="en-US" b="1" dirty="0"/>
              <a:t> Normal kurtosis = 3</a:t>
            </a:r>
            <a:r>
              <a:rPr lang="en-US" dirty="0"/>
              <a:t> (baseline)</a:t>
            </a:r>
          </a:p>
          <a:p>
            <a:pPr>
              <a:buFont typeface="Arial" panose="020B0604020202020204" pitchFamily="34" charset="0"/>
              <a:buChar char="•"/>
            </a:pPr>
            <a:r>
              <a:rPr lang="en-US" b="1" dirty="0"/>
              <a:t> High kurtosis (&gt; 3):</a:t>
            </a:r>
            <a:r>
              <a:rPr lang="en-US" dirty="0"/>
              <a:t> heavier tails, more extreme animals</a:t>
            </a:r>
          </a:p>
          <a:p>
            <a:pPr marL="742950" lvl="1" indent="-285750">
              <a:buFont typeface="Arial" panose="020B0604020202020204" pitchFamily="34" charset="0"/>
              <a:buChar char="•"/>
            </a:pPr>
            <a:r>
              <a:rPr lang="en-US" dirty="0"/>
              <a:t>Greater chance of outliers</a:t>
            </a:r>
          </a:p>
          <a:p>
            <a:pPr marL="742950" lvl="1" indent="-285750">
              <a:buFont typeface="Arial" panose="020B0604020202020204" pitchFamily="34" charset="0"/>
              <a:buChar char="•"/>
            </a:pPr>
            <a:r>
              <a:rPr lang="en-US" dirty="0"/>
              <a:t>Typical in disease indicators or stress markers</a:t>
            </a:r>
          </a:p>
          <a:p>
            <a:pPr>
              <a:buFont typeface="Arial" panose="020B0604020202020204" pitchFamily="34" charset="0"/>
              <a:buChar char="•"/>
            </a:pPr>
            <a:r>
              <a:rPr lang="en-US" b="1" dirty="0"/>
              <a:t> Low kurtosis (&lt; 3):</a:t>
            </a:r>
            <a:r>
              <a:rPr lang="en-US" dirty="0"/>
              <a:t> lighter tails, fewer outliers</a:t>
            </a:r>
          </a:p>
          <a:p>
            <a:pPr marL="742950" lvl="1" indent="-285750">
              <a:buFont typeface="Arial" panose="020B0604020202020204" pitchFamily="34" charset="0"/>
              <a:buChar char="•"/>
            </a:pPr>
            <a:r>
              <a:rPr lang="en-US" dirty="0"/>
              <a:t>Animals cluster tightly around the average</a:t>
            </a:r>
          </a:p>
        </p:txBody>
      </p:sp>
    </p:spTree>
    <p:extLst>
      <p:ext uri="{BB962C8B-B14F-4D97-AF65-F5344CB8AC3E}">
        <p14:creationId xmlns:p14="http://schemas.microsoft.com/office/powerpoint/2010/main" val="590827808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4E1F021-33C3-5E59-99EE-743AACDB37A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BE8073A-59EE-29C0-4545-580344D5A90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NOTES on ANOVA</a:t>
            </a:r>
          </a:p>
        </p:txBody>
      </p:sp>
    </p:spTree>
    <p:extLst>
      <p:ext uri="{BB962C8B-B14F-4D97-AF65-F5344CB8AC3E}">
        <p14:creationId xmlns:p14="http://schemas.microsoft.com/office/powerpoint/2010/main" val="228436077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739A113-0BEE-FBEB-17DE-E00F202C74A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extBox 3">
            <a:extLst>
              <a:ext uri="{FF2B5EF4-FFF2-40B4-BE49-F238E27FC236}">
                <a16:creationId xmlns:a16="http://schemas.microsoft.com/office/drawing/2014/main" id="{BF2759BD-FF1B-0C4C-94A4-E527F66FE7C4}"/>
              </a:ext>
            </a:extLst>
          </p:cNvPr>
          <p:cNvSpPr txBox="1"/>
          <p:nvPr/>
        </p:nvSpPr>
        <p:spPr>
          <a:xfrm>
            <a:off x="105104" y="249475"/>
            <a:ext cx="9038896" cy="5078313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buNone/>
            </a:pPr>
            <a:r>
              <a:rPr lang="en-US" b="1" dirty="0"/>
              <a:t>🐔 What the Type III ANOVA Table Shows</a:t>
            </a:r>
          </a:p>
          <a:p>
            <a:pPr>
              <a:buNone/>
            </a:pPr>
            <a:endParaRPr lang="en-US" b="1" dirty="0"/>
          </a:p>
          <a:p>
            <a:pPr>
              <a:buNone/>
            </a:pPr>
            <a:r>
              <a:rPr lang="en-US" b="1" dirty="0"/>
              <a:t>What it is</a:t>
            </a:r>
          </a:p>
          <a:p>
            <a:pPr>
              <a:buFont typeface="Arial" panose="020B0604020202020204" pitchFamily="34" charset="0"/>
              <a:buChar char="•"/>
            </a:pPr>
            <a:r>
              <a:rPr lang="en-US" dirty="0"/>
              <a:t> A table that tests whether each factor in the model has an </a:t>
            </a:r>
            <a:r>
              <a:rPr lang="en-US" b="1" dirty="0"/>
              <a:t>overall effect</a:t>
            </a:r>
            <a:r>
              <a:rPr lang="en-US" dirty="0"/>
              <a:t> on the outcome</a:t>
            </a:r>
          </a:p>
          <a:p>
            <a:pPr>
              <a:buFont typeface="Arial" panose="020B0604020202020204" pitchFamily="34" charset="0"/>
              <a:buChar char="•"/>
            </a:pPr>
            <a:r>
              <a:rPr lang="en-US" dirty="0"/>
              <a:t> It uses all data to answer:</a:t>
            </a:r>
            <a:br>
              <a:rPr lang="en-US" dirty="0"/>
            </a:br>
            <a:r>
              <a:rPr lang="en-US" b="1" dirty="0"/>
              <a:t>“Does this variable influence the response?”</a:t>
            </a:r>
            <a:endParaRPr lang="en-US" dirty="0"/>
          </a:p>
          <a:p>
            <a:pPr>
              <a:buNone/>
            </a:pPr>
            <a:endParaRPr lang="en-US" b="1" dirty="0"/>
          </a:p>
          <a:p>
            <a:pPr>
              <a:buNone/>
            </a:pPr>
            <a:r>
              <a:rPr lang="en-US" b="1" dirty="0"/>
              <a:t>What it tells you</a:t>
            </a:r>
          </a:p>
          <a:p>
            <a:pPr>
              <a:buFont typeface="Arial" panose="020B0604020202020204" pitchFamily="34" charset="0"/>
              <a:buChar char="•"/>
            </a:pPr>
            <a:r>
              <a:rPr lang="en-US" b="1" dirty="0"/>
              <a:t> Significance (p-value):</a:t>
            </a:r>
            <a:r>
              <a:rPr lang="en-US" dirty="0"/>
              <a:t> whether the variable influences the response</a:t>
            </a:r>
          </a:p>
          <a:p>
            <a:pPr>
              <a:buFont typeface="Arial" panose="020B0604020202020204" pitchFamily="34" charset="0"/>
              <a:buChar char="•"/>
            </a:pPr>
            <a:r>
              <a:rPr lang="en-US" b="1" dirty="0"/>
              <a:t> F-value:</a:t>
            </a:r>
            <a:r>
              <a:rPr lang="en-US" dirty="0"/>
              <a:t> how strong that influence is</a:t>
            </a:r>
          </a:p>
          <a:p>
            <a:pPr>
              <a:buFont typeface="Arial" panose="020B0604020202020204" pitchFamily="34" charset="0"/>
              <a:buChar char="•"/>
            </a:pPr>
            <a:r>
              <a:rPr lang="en-US" dirty="0"/>
              <a:t> Works for main effects and interactions (e.g., Treatment, Week, </a:t>
            </a:r>
            <a:r>
              <a:rPr lang="en-US" dirty="0" err="1"/>
              <a:t>Treatment×Week</a:t>
            </a:r>
            <a:r>
              <a:rPr lang="en-US" dirty="0"/>
              <a:t>)</a:t>
            </a:r>
          </a:p>
          <a:p>
            <a:pPr>
              <a:buNone/>
            </a:pPr>
            <a:endParaRPr lang="en-US" b="1" dirty="0"/>
          </a:p>
          <a:p>
            <a:pPr>
              <a:buNone/>
            </a:pPr>
            <a:r>
              <a:rPr lang="en-US" b="1" dirty="0"/>
              <a:t>What it does </a:t>
            </a:r>
            <a:r>
              <a:rPr lang="en-US" b="1" i="1" dirty="0"/>
              <a:t>not</a:t>
            </a:r>
            <a:r>
              <a:rPr lang="en-US" b="1" dirty="0"/>
              <a:t> tell you</a:t>
            </a:r>
          </a:p>
          <a:p>
            <a:pPr>
              <a:buFont typeface="Arial" panose="020B0604020202020204" pitchFamily="34" charset="0"/>
              <a:buChar char="•"/>
            </a:pPr>
            <a:r>
              <a:rPr lang="en-US" dirty="0"/>
              <a:t> No information about </a:t>
            </a:r>
            <a:r>
              <a:rPr lang="en-US" b="1" dirty="0"/>
              <a:t>direction</a:t>
            </a:r>
            <a:endParaRPr lang="en-US" dirty="0"/>
          </a:p>
          <a:p>
            <a:pPr marL="742950" lvl="1" indent="-285750">
              <a:buFont typeface="Arial" panose="020B0604020202020204" pitchFamily="34" charset="0"/>
              <a:buChar char="•"/>
            </a:pPr>
            <a:r>
              <a:rPr lang="en-US" dirty="0"/>
              <a:t>It does </a:t>
            </a:r>
            <a:r>
              <a:rPr lang="en-US" i="1" dirty="0"/>
              <a:t>not</a:t>
            </a:r>
            <a:r>
              <a:rPr lang="en-US" dirty="0"/>
              <a:t> say whether a group is higher or lower</a:t>
            </a:r>
          </a:p>
          <a:p>
            <a:pPr>
              <a:buFont typeface="Arial" panose="020B0604020202020204" pitchFamily="34" charset="0"/>
              <a:buChar char="•"/>
            </a:pPr>
            <a:r>
              <a:rPr lang="en-US" dirty="0"/>
              <a:t> No information about </a:t>
            </a:r>
            <a:r>
              <a:rPr lang="en-US" b="1" dirty="0"/>
              <a:t>which groups differ</a:t>
            </a:r>
            <a:endParaRPr lang="en-US" dirty="0"/>
          </a:p>
          <a:p>
            <a:pPr marL="742950" lvl="1" indent="-285750">
              <a:buFont typeface="Arial" panose="020B0604020202020204" pitchFamily="34" charset="0"/>
              <a:buChar char="•"/>
            </a:pPr>
            <a:r>
              <a:rPr lang="en-US" dirty="0"/>
              <a:t>It only tests the variable as a whole</a:t>
            </a:r>
          </a:p>
          <a:p>
            <a:pPr>
              <a:buFont typeface="Arial" panose="020B0604020202020204" pitchFamily="34" charset="0"/>
              <a:buChar char="•"/>
            </a:pPr>
            <a:r>
              <a:rPr lang="en-US" dirty="0"/>
              <a:t> No estimated means or contrasts</a:t>
            </a:r>
          </a:p>
        </p:txBody>
      </p:sp>
    </p:spTree>
    <p:extLst>
      <p:ext uri="{BB962C8B-B14F-4D97-AF65-F5344CB8AC3E}">
        <p14:creationId xmlns:p14="http://schemas.microsoft.com/office/powerpoint/2010/main" val="325401457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Box 2">
            <a:extLst>
              <a:ext uri="{FF2B5EF4-FFF2-40B4-BE49-F238E27FC236}">
                <a16:creationId xmlns:a16="http://schemas.microsoft.com/office/drawing/2014/main" id="{8C852C62-D2DD-98CD-477C-92BD99E94608}"/>
              </a:ext>
            </a:extLst>
          </p:cNvPr>
          <p:cNvSpPr txBox="1"/>
          <p:nvPr/>
        </p:nvSpPr>
        <p:spPr>
          <a:xfrm>
            <a:off x="115614" y="199973"/>
            <a:ext cx="8366234" cy="5078313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buNone/>
            </a:pPr>
            <a:r>
              <a:rPr lang="en-US" b="1" dirty="0"/>
              <a:t>🐔 What Are Dunnett Contrasts in ANOVA?</a:t>
            </a:r>
          </a:p>
          <a:p>
            <a:pPr>
              <a:buNone/>
            </a:pPr>
            <a:endParaRPr lang="en-US" b="1" dirty="0"/>
          </a:p>
          <a:p>
            <a:pPr>
              <a:buNone/>
            </a:pPr>
            <a:r>
              <a:rPr lang="en-US" b="1" dirty="0"/>
              <a:t>What Dunnett’s test does</a:t>
            </a:r>
          </a:p>
          <a:p>
            <a:pPr>
              <a:buFont typeface="Arial" panose="020B0604020202020204" pitchFamily="34" charset="0"/>
              <a:buChar char="•"/>
            </a:pPr>
            <a:r>
              <a:rPr lang="en-US" dirty="0"/>
              <a:t> Compares </a:t>
            </a:r>
            <a:r>
              <a:rPr lang="en-US" b="1" dirty="0"/>
              <a:t>each treatment group directly to the control group</a:t>
            </a:r>
            <a:endParaRPr lang="en-US" dirty="0"/>
          </a:p>
          <a:p>
            <a:pPr>
              <a:buFont typeface="Arial" panose="020B0604020202020204" pitchFamily="34" charset="0"/>
              <a:buChar char="•"/>
            </a:pPr>
            <a:r>
              <a:rPr lang="en-US" dirty="0"/>
              <a:t> Does </a:t>
            </a:r>
            <a:r>
              <a:rPr lang="en-US" b="1" dirty="0"/>
              <a:t>not</a:t>
            </a:r>
            <a:r>
              <a:rPr lang="en-US" dirty="0"/>
              <a:t> compare treatments with each other</a:t>
            </a:r>
          </a:p>
          <a:p>
            <a:pPr>
              <a:buFont typeface="Arial" panose="020B0604020202020204" pitchFamily="34" charset="0"/>
              <a:buChar char="•"/>
            </a:pPr>
            <a:r>
              <a:rPr lang="en-US" dirty="0"/>
              <a:t> Designed for experiments where the control is the main reference (very common in veterinary trials)</a:t>
            </a:r>
          </a:p>
          <a:p>
            <a:pPr>
              <a:buNone/>
            </a:pPr>
            <a:endParaRPr lang="en-US" b="1" dirty="0"/>
          </a:p>
          <a:p>
            <a:pPr>
              <a:buNone/>
            </a:pPr>
            <a:r>
              <a:rPr lang="en-US" b="1" dirty="0"/>
              <a:t>Why it is useful</a:t>
            </a:r>
          </a:p>
          <a:p>
            <a:pPr>
              <a:buFont typeface="Arial" panose="020B0604020202020204" pitchFamily="34" charset="0"/>
              <a:buChar char="•"/>
            </a:pPr>
            <a:r>
              <a:rPr lang="en-US" dirty="0"/>
              <a:t> Prevents false positives when making multiple comparisons </a:t>
            </a:r>
          </a:p>
          <a:p>
            <a:pPr>
              <a:buFont typeface="Arial" panose="020B0604020202020204" pitchFamily="34" charset="0"/>
              <a:buChar char="•"/>
            </a:pPr>
            <a:r>
              <a:rPr lang="en-US" dirty="0"/>
              <a:t> More powerful and more appropriate than doing all pairwise tests</a:t>
            </a:r>
          </a:p>
          <a:p>
            <a:pPr>
              <a:buFont typeface="Arial" panose="020B0604020202020204" pitchFamily="34" charset="0"/>
              <a:buChar char="•"/>
            </a:pPr>
            <a:r>
              <a:rPr lang="en-US" dirty="0"/>
              <a:t> Ideal when the question is:</a:t>
            </a:r>
            <a:br>
              <a:rPr lang="en-US" dirty="0"/>
            </a:br>
            <a:r>
              <a:rPr lang="en-US" b="1" dirty="0"/>
              <a:t>“Is this treatment different from the control?”</a:t>
            </a:r>
            <a:endParaRPr lang="en-US" dirty="0"/>
          </a:p>
          <a:p>
            <a:pPr>
              <a:buNone/>
            </a:pPr>
            <a:endParaRPr lang="en-US" b="1" dirty="0"/>
          </a:p>
          <a:p>
            <a:pPr>
              <a:buNone/>
            </a:pPr>
            <a:r>
              <a:rPr lang="en-US" b="1" dirty="0"/>
              <a:t>What veterinarians should look at</a:t>
            </a:r>
          </a:p>
          <a:p>
            <a:pPr>
              <a:buFont typeface="Arial" panose="020B0604020202020204" pitchFamily="34" charset="0"/>
              <a:buChar char="•"/>
            </a:pPr>
            <a:r>
              <a:rPr lang="en-US" b="1" dirty="0"/>
              <a:t> Estimate:</a:t>
            </a:r>
            <a:r>
              <a:rPr lang="en-US" dirty="0"/>
              <a:t> how much higher/lower the treatment is than the control</a:t>
            </a:r>
          </a:p>
          <a:p>
            <a:pPr>
              <a:buFont typeface="Arial" panose="020B0604020202020204" pitchFamily="34" charset="0"/>
              <a:buChar char="•"/>
            </a:pPr>
            <a:r>
              <a:rPr lang="en-US" b="1" dirty="0"/>
              <a:t> Confidence interval:</a:t>
            </a:r>
            <a:r>
              <a:rPr lang="en-US" dirty="0"/>
              <a:t> whether the difference is meaningful</a:t>
            </a:r>
          </a:p>
          <a:p>
            <a:pPr>
              <a:buFont typeface="Arial" panose="020B0604020202020204" pitchFamily="34" charset="0"/>
              <a:buChar char="•"/>
            </a:pPr>
            <a:r>
              <a:rPr lang="en-US" b="1" dirty="0"/>
              <a:t> p-value:</a:t>
            </a:r>
            <a:r>
              <a:rPr lang="en-US" dirty="0"/>
              <a:t> whether the treatment differs significantly from control</a:t>
            </a:r>
          </a:p>
        </p:txBody>
      </p:sp>
    </p:spTree>
    <p:extLst>
      <p:ext uri="{BB962C8B-B14F-4D97-AF65-F5344CB8AC3E}">
        <p14:creationId xmlns:p14="http://schemas.microsoft.com/office/powerpoint/2010/main" val="2213024833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27AF527-741A-55B0-6F97-2337B667D03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FB597CA-0BDE-3054-8162-405E2FE21AE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NOTES on LM</a:t>
            </a:r>
          </a:p>
        </p:txBody>
      </p:sp>
    </p:spTree>
    <p:extLst>
      <p:ext uri="{BB962C8B-B14F-4D97-AF65-F5344CB8AC3E}">
        <p14:creationId xmlns:p14="http://schemas.microsoft.com/office/powerpoint/2010/main" val="3632641416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79D9354-6C45-00D5-B7E6-7B345F75E75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Box 2">
            <a:extLst>
              <a:ext uri="{FF2B5EF4-FFF2-40B4-BE49-F238E27FC236}">
                <a16:creationId xmlns:a16="http://schemas.microsoft.com/office/drawing/2014/main" id="{136D138D-C390-F9E6-2AC6-A07BC9CC0BCC}"/>
              </a:ext>
            </a:extLst>
          </p:cNvPr>
          <p:cNvSpPr txBox="1"/>
          <p:nvPr/>
        </p:nvSpPr>
        <p:spPr>
          <a:xfrm>
            <a:off x="635876" y="117693"/>
            <a:ext cx="8019393" cy="618630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b="1" dirty="0"/>
              <a:t>🐔 Understanding Model Diagnostics</a:t>
            </a:r>
          </a:p>
          <a:p>
            <a:endParaRPr lang="en-US" b="1" dirty="0"/>
          </a:p>
          <a:p>
            <a:r>
              <a:rPr lang="en-US" b="1" dirty="0"/>
              <a:t>Residuals vs Fitted Plot</a:t>
            </a:r>
          </a:p>
          <a:p>
            <a:r>
              <a:rPr lang="en-US" dirty="0"/>
              <a:t>Shows how far the predictions are from the observed values</a:t>
            </a:r>
          </a:p>
          <a:p>
            <a:r>
              <a:rPr lang="en-US" b="1" dirty="0"/>
              <a:t>Good model:</a:t>
            </a:r>
            <a:r>
              <a:rPr lang="en-US" dirty="0"/>
              <a:t> points spread randomly around the horizontal line</a:t>
            </a:r>
          </a:p>
          <a:p>
            <a:r>
              <a:rPr lang="en-US" b="1" dirty="0"/>
              <a:t>Warning signs:</a:t>
            </a:r>
            <a:endParaRPr lang="en-US" dirty="0"/>
          </a:p>
          <a:p>
            <a:pPr lvl="1"/>
            <a:r>
              <a:rPr lang="en-US" dirty="0"/>
              <a:t>Curved pattern → model is missing something</a:t>
            </a:r>
          </a:p>
          <a:p>
            <a:pPr lvl="1"/>
            <a:r>
              <a:rPr lang="en-US" dirty="0"/>
              <a:t>Funnel shape → variability is changing (heteroskedasticity)</a:t>
            </a:r>
          </a:p>
          <a:p>
            <a:pPr lvl="1"/>
            <a:r>
              <a:rPr lang="en-US" dirty="0"/>
              <a:t>Outliers far away from the cloud → unusual animals or measurements</a:t>
            </a:r>
          </a:p>
          <a:p>
            <a:endParaRPr lang="en-US" b="1" dirty="0"/>
          </a:p>
          <a:p>
            <a:r>
              <a:rPr lang="en-US" b="1" dirty="0"/>
              <a:t>Normal Q–Q Plot</a:t>
            </a:r>
          </a:p>
          <a:p>
            <a:r>
              <a:rPr lang="en-US" dirty="0"/>
              <a:t>Checks if the residuals follow a roughly normal distribution</a:t>
            </a:r>
          </a:p>
          <a:p>
            <a:r>
              <a:rPr lang="en-US" b="1" dirty="0"/>
              <a:t>Good model:</a:t>
            </a:r>
            <a:r>
              <a:rPr lang="en-US" dirty="0"/>
              <a:t> points fall close to the straight line</a:t>
            </a:r>
          </a:p>
          <a:p>
            <a:r>
              <a:rPr lang="en-US" b="1" dirty="0"/>
              <a:t>Warning signs:</a:t>
            </a:r>
            <a:endParaRPr lang="en-US" dirty="0"/>
          </a:p>
          <a:p>
            <a:pPr lvl="1"/>
            <a:r>
              <a:rPr lang="en-US" dirty="0"/>
              <a:t>Strong bends → skewed data</a:t>
            </a:r>
          </a:p>
          <a:p>
            <a:pPr lvl="1"/>
            <a:r>
              <a:rPr lang="en-US" dirty="0"/>
              <a:t>Ends far away from the line → heavy tails or extreme values</a:t>
            </a:r>
          </a:p>
          <a:p>
            <a:pPr lvl="1"/>
            <a:r>
              <a:rPr lang="en-US" dirty="0"/>
              <a:t>S-curve → treatment effects or transformations may be needed</a:t>
            </a:r>
          </a:p>
          <a:p>
            <a:endParaRPr lang="en-US" b="1" dirty="0"/>
          </a:p>
          <a:p>
            <a:r>
              <a:rPr lang="en-US" b="1" dirty="0"/>
              <a:t>Notes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dirty="0"/>
              <a:t>If both plots look roughly straight and even, the model is </a:t>
            </a:r>
            <a:r>
              <a:rPr lang="en-US" b="1" dirty="0"/>
              <a:t>trustworthy</a:t>
            </a:r>
            <a:r>
              <a:rPr lang="en-US" dirty="0"/>
              <a:t>.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dirty="0"/>
              <a:t>Big deviations mean the model may need a tweak (e.g., transformation, different predictors, or a mixed model).</a:t>
            </a:r>
          </a:p>
        </p:txBody>
      </p:sp>
    </p:spTree>
    <p:extLst>
      <p:ext uri="{BB962C8B-B14F-4D97-AF65-F5344CB8AC3E}">
        <p14:creationId xmlns:p14="http://schemas.microsoft.com/office/powerpoint/2010/main" val="2351402579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Box 2">
            <a:extLst>
              <a:ext uri="{FF2B5EF4-FFF2-40B4-BE49-F238E27FC236}">
                <a16:creationId xmlns:a16="http://schemas.microsoft.com/office/drawing/2014/main" id="{C6A916B4-23AB-2881-BFE9-2322424629F7}"/>
              </a:ext>
            </a:extLst>
          </p:cNvPr>
          <p:cNvSpPr txBox="1"/>
          <p:nvPr/>
        </p:nvSpPr>
        <p:spPr>
          <a:xfrm>
            <a:off x="160020" y="144460"/>
            <a:ext cx="8983980" cy="581697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buNone/>
            </a:pPr>
            <a:r>
              <a:rPr lang="en-US" sz="1200" b="1" dirty="0"/>
              <a:t>How to Interpret the Estimates</a:t>
            </a:r>
          </a:p>
          <a:p>
            <a:pPr>
              <a:buNone/>
            </a:pPr>
            <a:endParaRPr lang="en-US" sz="1200" b="1" dirty="0"/>
          </a:p>
          <a:p>
            <a:pPr>
              <a:buNone/>
            </a:pPr>
            <a:r>
              <a:rPr lang="en-US" sz="1200" dirty="0"/>
              <a:t>The </a:t>
            </a:r>
            <a:r>
              <a:rPr lang="en-US" sz="1200" b="1" dirty="0"/>
              <a:t>Intercept</a:t>
            </a:r>
            <a:r>
              <a:rPr lang="en-US" sz="1200" dirty="0"/>
              <a:t> is the predicted value for the </a:t>
            </a:r>
            <a:r>
              <a:rPr lang="en-US" sz="1200" b="1" dirty="0"/>
              <a:t>reference animal</a:t>
            </a:r>
            <a:r>
              <a:rPr lang="en-US" sz="1200" dirty="0"/>
              <a:t>:</a:t>
            </a:r>
            <a:br>
              <a:rPr lang="en-US" sz="1200" dirty="0"/>
            </a:br>
            <a:r>
              <a:rPr lang="en-US" sz="1200" dirty="0"/>
              <a:t>Control + Normal diet + </a:t>
            </a:r>
            <a:r>
              <a:rPr lang="en-US" sz="1200" dirty="0" err="1"/>
              <a:t>HeartRate</a:t>
            </a:r>
            <a:r>
              <a:rPr lang="en-US" sz="1200" dirty="0"/>
              <a:t> = 0 + Glucose = 0</a:t>
            </a:r>
            <a:br>
              <a:rPr lang="en-US" sz="1200" dirty="0"/>
            </a:br>
            <a:r>
              <a:rPr lang="en-US" sz="1200" dirty="0"/>
              <a:t>→ </a:t>
            </a:r>
            <a:r>
              <a:rPr lang="en-US" sz="1200" b="1" dirty="0"/>
              <a:t>8.59</a:t>
            </a:r>
            <a:endParaRPr lang="en-US" sz="1200" dirty="0"/>
          </a:p>
          <a:p>
            <a:pPr>
              <a:buNone/>
            </a:pPr>
            <a:r>
              <a:rPr lang="en-US" sz="1200" dirty="0"/>
              <a:t>Each estimate shows </a:t>
            </a:r>
            <a:r>
              <a:rPr lang="en-US" sz="1200" b="1" dirty="0"/>
              <a:t>how much to add or subtract</a:t>
            </a:r>
            <a:r>
              <a:rPr lang="en-US" sz="1200" dirty="0"/>
              <a:t> when that part changes.</a:t>
            </a:r>
          </a:p>
          <a:p>
            <a:pPr>
              <a:buNone/>
            </a:pPr>
            <a:br>
              <a:rPr lang="en-US" sz="1200" dirty="0"/>
            </a:br>
            <a:endParaRPr lang="en-US" sz="1200" dirty="0"/>
          </a:p>
          <a:p>
            <a:pPr>
              <a:buNone/>
            </a:pPr>
            <a:r>
              <a:rPr lang="en-US" sz="1200" b="1" dirty="0"/>
              <a:t>Treatment effects</a:t>
            </a:r>
          </a:p>
          <a:p>
            <a:pPr>
              <a:buFont typeface="Arial" panose="020B0604020202020204" pitchFamily="34" charset="0"/>
              <a:buChar char="•"/>
            </a:pPr>
            <a:r>
              <a:rPr lang="en-US" sz="1200" b="1" dirty="0"/>
              <a:t> Drug A: +1.49</a:t>
            </a:r>
            <a:br>
              <a:rPr lang="en-US" sz="1200" dirty="0"/>
            </a:br>
            <a:r>
              <a:rPr lang="en-US" sz="1200" dirty="0"/>
              <a:t>→ Control (8.59) → Drug A = </a:t>
            </a:r>
            <a:r>
              <a:rPr lang="en-US" sz="1200" b="1" dirty="0"/>
              <a:t>8.59 + 1.49 = 10.08</a:t>
            </a:r>
            <a:endParaRPr lang="en-US" sz="1200" dirty="0"/>
          </a:p>
          <a:p>
            <a:pPr>
              <a:buFont typeface="Arial" panose="020B0604020202020204" pitchFamily="34" charset="0"/>
              <a:buChar char="•"/>
            </a:pPr>
            <a:r>
              <a:rPr lang="en-US" sz="1200" b="1" dirty="0"/>
              <a:t> Drug B: +2.95</a:t>
            </a:r>
            <a:br>
              <a:rPr lang="en-US" sz="1200" dirty="0"/>
            </a:br>
            <a:r>
              <a:rPr lang="en-US" sz="1200" dirty="0"/>
              <a:t>→ Control (8.59) → Drug B = </a:t>
            </a:r>
            <a:r>
              <a:rPr lang="en-US" sz="1200" b="1" dirty="0"/>
              <a:t>8.59 + 2.95 = 11.54</a:t>
            </a:r>
            <a:endParaRPr lang="en-US" sz="1200" dirty="0"/>
          </a:p>
          <a:p>
            <a:pPr>
              <a:buNone/>
            </a:pPr>
            <a:endParaRPr lang="en-US" sz="1200" b="1" dirty="0"/>
          </a:p>
          <a:p>
            <a:pPr>
              <a:buNone/>
            </a:pPr>
            <a:r>
              <a:rPr lang="en-US" sz="1200" b="1" dirty="0"/>
              <a:t>Diet effect</a:t>
            </a:r>
          </a:p>
          <a:p>
            <a:pPr>
              <a:buFont typeface="Arial" panose="020B0604020202020204" pitchFamily="34" charset="0"/>
              <a:buChar char="•"/>
            </a:pPr>
            <a:r>
              <a:rPr lang="en-US" sz="1200" b="1" dirty="0"/>
              <a:t> High-Fat diet: +1.14</a:t>
            </a:r>
            <a:br>
              <a:rPr lang="en-US" sz="1200" dirty="0"/>
            </a:br>
            <a:r>
              <a:rPr lang="en-US" sz="1200"/>
              <a:t>→ Low-Fat </a:t>
            </a:r>
            <a:r>
              <a:rPr lang="en-US" sz="1200" dirty="0"/>
              <a:t>diet (8.59) → High-Fat = </a:t>
            </a:r>
            <a:r>
              <a:rPr lang="en-US" sz="1200" b="1" dirty="0"/>
              <a:t>8.59 + 1.14 = 9.73</a:t>
            </a:r>
            <a:endParaRPr lang="en-US" sz="1200" dirty="0"/>
          </a:p>
          <a:p>
            <a:pPr>
              <a:buNone/>
            </a:pPr>
            <a:endParaRPr lang="en-US" sz="1200" b="1" dirty="0"/>
          </a:p>
          <a:p>
            <a:pPr>
              <a:buNone/>
            </a:pPr>
            <a:r>
              <a:rPr lang="en-US" sz="1200" b="1" dirty="0"/>
              <a:t>Numeric predictors</a:t>
            </a:r>
          </a:p>
          <a:p>
            <a:pPr>
              <a:buFont typeface="Arial" panose="020B0604020202020204" pitchFamily="34" charset="0"/>
              <a:buChar char="•"/>
            </a:pPr>
            <a:r>
              <a:rPr lang="en-US" sz="1200" b="1" dirty="0"/>
              <a:t> </a:t>
            </a:r>
            <a:r>
              <a:rPr lang="en-US" sz="1200" b="1" dirty="0" err="1"/>
              <a:t>HeartRate</a:t>
            </a:r>
            <a:r>
              <a:rPr lang="en-US" sz="1200" b="1" dirty="0"/>
              <a:t>: +0.015 per unit</a:t>
            </a:r>
            <a:br>
              <a:rPr lang="en-US" sz="1200" dirty="0"/>
            </a:br>
            <a:r>
              <a:rPr lang="en-US" sz="1200" dirty="0"/>
              <a:t>→ HR = 100 → </a:t>
            </a:r>
            <a:r>
              <a:rPr lang="en-US" sz="1200" b="1" dirty="0"/>
              <a:t>8.59 + 100×0.015 = 10.09</a:t>
            </a:r>
            <a:endParaRPr lang="en-US" sz="1200" dirty="0"/>
          </a:p>
          <a:p>
            <a:pPr>
              <a:buFont typeface="Arial" panose="020B0604020202020204" pitchFamily="34" charset="0"/>
              <a:buChar char="•"/>
            </a:pPr>
            <a:r>
              <a:rPr lang="en-US" sz="1200" b="1" dirty="0"/>
              <a:t> Glucose: +0.00001 per unit</a:t>
            </a:r>
            <a:br>
              <a:rPr lang="en-US" sz="1200" dirty="0"/>
            </a:br>
            <a:r>
              <a:rPr lang="en-US" sz="1200" dirty="0"/>
              <a:t>→ negligible change (even at high values)</a:t>
            </a:r>
          </a:p>
          <a:p>
            <a:pPr>
              <a:buNone/>
            </a:pPr>
            <a:br>
              <a:rPr lang="en-US" sz="1200" dirty="0"/>
            </a:br>
            <a:endParaRPr lang="en-US" sz="1200" dirty="0"/>
          </a:p>
          <a:p>
            <a:pPr>
              <a:buNone/>
            </a:pPr>
            <a:r>
              <a:rPr lang="en-US" sz="1200" b="1" dirty="0"/>
              <a:t>Interactions (two things changing together)</a:t>
            </a:r>
          </a:p>
          <a:p>
            <a:pPr>
              <a:buNone/>
            </a:pPr>
            <a:r>
              <a:rPr lang="en-US" sz="1200" dirty="0"/>
              <a:t>Show whether the combination differs from simply adding both effects.</a:t>
            </a:r>
          </a:p>
          <a:p>
            <a:pPr>
              <a:buFont typeface="Arial" panose="020B0604020202020204" pitchFamily="34" charset="0"/>
              <a:buChar char="•"/>
            </a:pPr>
            <a:r>
              <a:rPr lang="en-US" sz="1200" b="1" dirty="0"/>
              <a:t> Drug A × High-Fat: –0.078</a:t>
            </a:r>
            <a:br>
              <a:rPr lang="en-US" sz="1200" dirty="0"/>
            </a:br>
            <a:r>
              <a:rPr lang="en-US" sz="1200" dirty="0"/>
              <a:t>→ 8.59 + 1.49 + 1.14 </a:t>
            </a:r>
            <a:r>
              <a:rPr lang="en-US" sz="1200" b="1" dirty="0"/>
              <a:t>– 0.078 = 11.15</a:t>
            </a:r>
            <a:endParaRPr lang="en-US" sz="1200" dirty="0"/>
          </a:p>
          <a:p>
            <a:pPr>
              <a:buFont typeface="Arial" panose="020B0604020202020204" pitchFamily="34" charset="0"/>
              <a:buChar char="•"/>
            </a:pPr>
            <a:r>
              <a:rPr lang="en-US" sz="1200" b="1" dirty="0"/>
              <a:t> Drug B × High-Fat: –0.275</a:t>
            </a:r>
            <a:br>
              <a:rPr lang="en-US" sz="1200" dirty="0"/>
            </a:br>
            <a:r>
              <a:rPr lang="en-US" sz="1200" dirty="0"/>
              <a:t>→ 8.59 + 2.95 + 1.14 </a:t>
            </a:r>
            <a:r>
              <a:rPr lang="en-US" sz="1200" b="1" dirty="0"/>
              <a:t>– 0.275 = 12.40</a:t>
            </a:r>
            <a:endParaRPr lang="en-US" sz="1200" dirty="0"/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4CC18B8D-05FC-D59A-EE14-0595BB104087}"/>
              </a:ext>
            </a:extLst>
          </p:cNvPr>
          <p:cNvSpPr txBox="1"/>
          <p:nvPr/>
        </p:nvSpPr>
        <p:spPr>
          <a:xfrm>
            <a:off x="4321854" y="1627887"/>
            <a:ext cx="4937760" cy="132343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800" dirty="0">
                <a:latin typeface="Fira Mono" panose="020B0509050000020004" pitchFamily="49" charset="0"/>
                <a:ea typeface="Fira Mono" panose="020B0509050000020004" pitchFamily="49" charset="0"/>
              </a:rPr>
              <a:t>Coefficients:</a:t>
            </a:r>
          </a:p>
          <a:p>
            <a:r>
              <a:rPr lang="en-US" sz="800" dirty="0">
                <a:latin typeface="Fira Mono" panose="020B0509050000020004" pitchFamily="49" charset="0"/>
                <a:ea typeface="Fira Mono" panose="020B0509050000020004" pitchFamily="49" charset="0"/>
              </a:rPr>
              <a:t>                       Term  Estimate </a:t>
            </a:r>
            <a:r>
              <a:rPr lang="en-US" sz="800" dirty="0" err="1">
                <a:latin typeface="Fira Mono" panose="020B0509050000020004" pitchFamily="49" charset="0"/>
                <a:ea typeface="Fira Mono" panose="020B0509050000020004" pitchFamily="49" charset="0"/>
              </a:rPr>
              <a:t>Std.Error</a:t>
            </a:r>
            <a:r>
              <a:rPr lang="en-US" sz="800" dirty="0">
                <a:latin typeface="Fira Mono" panose="020B0509050000020004" pitchFamily="49" charset="0"/>
                <a:ea typeface="Fira Mono" panose="020B0509050000020004" pitchFamily="49" charset="0"/>
              </a:rPr>
              <a:t> Statistic  </a:t>
            </a:r>
            <a:r>
              <a:rPr lang="en-US" sz="800" dirty="0" err="1">
                <a:latin typeface="Fira Mono" panose="020B0509050000020004" pitchFamily="49" charset="0"/>
                <a:ea typeface="Fira Mono" panose="020B0509050000020004" pitchFamily="49" charset="0"/>
              </a:rPr>
              <a:t>p.value</a:t>
            </a:r>
            <a:endParaRPr lang="en-US" sz="800" dirty="0">
              <a:latin typeface="Fira Mono" panose="020B0509050000020004" pitchFamily="49" charset="0"/>
              <a:ea typeface="Fira Mono" panose="020B0509050000020004" pitchFamily="49" charset="0"/>
            </a:endParaRPr>
          </a:p>
          <a:p>
            <a:r>
              <a:rPr lang="en-US" sz="800" dirty="0">
                <a:latin typeface="Fira Mono" panose="020B0509050000020004" pitchFamily="49" charset="0"/>
                <a:ea typeface="Fira Mono" panose="020B0509050000020004" pitchFamily="49" charset="0"/>
              </a:rPr>
              <a:t>                (Intercept)  8.591096  3.271296  2.626206  0.00984</a:t>
            </a:r>
          </a:p>
          <a:p>
            <a:r>
              <a:rPr lang="en-US" sz="800" dirty="0">
                <a:latin typeface="Fira Mono" panose="020B0509050000020004" pitchFamily="49" charset="0"/>
                <a:ea typeface="Fira Mono" panose="020B0509050000020004" pitchFamily="49" charset="0"/>
              </a:rPr>
              <a:t>             </a:t>
            </a:r>
            <a:r>
              <a:rPr lang="en-US" sz="800" dirty="0" err="1">
                <a:latin typeface="Fira Mono" panose="020B0509050000020004" pitchFamily="49" charset="0"/>
                <a:ea typeface="Fira Mono" panose="020B0509050000020004" pitchFamily="49" charset="0"/>
              </a:rPr>
              <a:t>TreatmentDrugA</a:t>
            </a:r>
            <a:r>
              <a:rPr lang="en-US" sz="800" dirty="0">
                <a:latin typeface="Fira Mono" panose="020B0509050000020004" pitchFamily="49" charset="0"/>
                <a:ea typeface="Fira Mono" panose="020B0509050000020004" pitchFamily="49" charset="0"/>
              </a:rPr>
              <a:t>  1.487336  0.307605  4.835212 &lt; 0.0001</a:t>
            </a:r>
          </a:p>
          <a:p>
            <a:r>
              <a:rPr lang="en-US" sz="800" dirty="0">
                <a:latin typeface="Fira Mono" panose="020B0509050000020004" pitchFamily="49" charset="0"/>
                <a:ea typeface="Fira Mono" panose="020B0509050000020004" pitchFamily="49" charset="0"/>
              </a:rPr>
              <a:t>             </a:t>
            </a:r>
            <a:r>
              <a:rPr lang="en-US" sz="800" dirty="0" err="1">
                <a:latin typeface="Fira Mono" panose="020B0509050000020004" pitchFamily="49" charset="0"/>
                <a:ea typeface="Fira Mono" panose="020B0509050000020004" pitchFamily="49" charset="0"/>
              </a:rPr>
              <a:t>TreatmentDrugB</a:t>
            </a:r>
            <a:r>
              <a:rPr lang="en-US" sz="800" dirty="0">
                <a:latin typeface="Fira Mono" panose="020B0509050000020004" pitchFamily="49" charset="0"/>
                <a:ea typeface="Fira Mono" panose="020B0509050000020004" pitchFamily="49" charset="0"/>
              </a:rPr>
              <a:t>  2.951441  0.350845  8.412374 &lt; 0.0001</a:t>
            </a:r>
          </a:p>
          <a:p>
            <a:r>
              <a:rPr lang="en-US" sz="800" dirty="0">
                <a:latin typeface="Fira Mono" panose="020B0509050000020004" pitchFamily="49" charset="0"/>
                <a:ea typeface="Fira Mono" panose="020B0509050000020004" pitchFamily="49" charset="0"/>
              </a:rPr>
              <a:t>                </a:t>
            </a:r>
            <a:r>
              <a:rPr lang="en-US" sz="800" dirty="0" err="1">
                <a:latin typeface="Fira Mono" panose="020B0509050000020004" pitchFamily="49" charset="0"/>
                <a:ea typeface="Fira Mono" panose="020B0509050000020004" pitchFamily="49" charset="0"/>
              </a:rPr>
              <a:t>DietHighFat</a:t>
            </a:r>
            <a:r>
              <a:rPr lang="en-US" sz="800" dirty="0">
                <a:latin typeface="Fira Mono" panose="020B0509050000020004" pitchFamily="49" charset="0"/>
                <a:ea typeface="Fira Mono" panose="020B0509050000020004" pitchFamily="49" charset="0"/>
              </a:rPr>
              <a:t>  1.139293  0.339371  3.357068  0.00108</a:t>
            </a:r>
          </a:p>
          <a:p>
            <a:r>
              <a:rPr lang="en-US" sz="800" dirty="0">
                <a:latin typeface="Fira Mono" panose="020B0509050000020004" pitchFamily="49" charset="0"/>
                <a:ea typeface="Fira Mono" panose="020B0509050000020004" pitchFamily="49" charset="0"/>
              </a:rPr>
              <a:t>                  </a:t>
            </a:r>
            <a:r>
              <a:rPr lang="en-US" sz="800" dirty="0" err="1">
                <a:latin typeface="Fira Mono" panose="020B0509050000020004" pitchFamily="49" charset="0"/>
                <a:ea typeface="Fira Mono" panose="020B0509050000020004" pitchFamily="49" charset="0"/>
              </a:rPr>
              <a:t>HeartRate</a:t>
            </a:r>
            <a:r>
              <a:rPr lang="en-US" sz="800" dirty="0">
                <a:latin typeface="Fira Mono" panose="020B0509050000020004" pitchFamily="49" charset="0"/>
                <a:ea typeface="Fira Mono" panose="020B0509050000020004" pitchFamily="49" charset="0"/>
              </a:rPr>
              <a:t>  0.015424  0.034168  0.451411  0.65257</a:t>
            </a:r>
          </a:p>
          <a:p>
            <a:r>
              <a:rPr lang="en-US" sz="800" dirty="0">
                <a:latin typeface="Fira Mono" panose="020B0509050000020004" pitchFamily="49" charset="0"/>
                <a:ea typeface="Fira Mono" panose="020B0509050000020004" pitchFamily="49" charset="0"/>
              </a:rPr>
              <a:t>                    Glucose  0.000012  0.017572  0.000674  0.99946</a:t>
            </a:r>
          </a:p>
          <a:p>
            <a:r>
              <a:rPr lang="en-US" sz="800" dirty="0">
                <a:latin typeface="Fira Mono" panose="020B0509050000020004" pitchFamily="49" charset="0"/>
                <a:ea typeface="Fira Mono" panose="020B0509050000020004" pitchFamily="49" charset="0"/>
              </a:rPr>
              <a:t> </a:t>
            </a:r>
            <a:r>
              <a:rPr lang="en-US" sz="800" dirty="0" err="1">
                <a:latin typeface="Fira Mono" panose="020B0509050000020004" pitchFamily="49" charset="0"/>
                <a:ea typeface="Fira Mono" panose="020B0509050000020004" pitchFamily="49" charset="0"/>
              </a:rPr>
              <a:t>TreatmentDrugA:DietHighFat</a:t>
            </a:r>
            <a:r>
              <a:rPr lang="en-US" sz="800" dirty="0">
                <a:latin typeface="Fira Mono" panose="020B0509050000020004" pitchFamily="49" charset="0"/>
                <a:ea typeface="Fira Mono" panose="020B0509050000020004" pitchFamily="49" charset="0"/>
              </a:rPr>
              <a:t> -0.078163  0.421136 -0.185601  0.85309</a:t>
            </a:r>
          </a:p>
          <a:p>
            <a:r>
              <a:rPr lang="en-US" sz="800" dirty="0">
                <a:latin typeface="Fira Mono" panose="020B0509050000020004" pitchFamily="49" charset="0"/>
                <a:ea typeface="Fira Mono" panose="020B0509050000020004" pitchFamily="49" charset="0"/>
              </a:rPr>
              <a:t> </a:t>
            </a:r>
            <a:r>
              <a:rPr lang="en-US" sz="800" dirty="0" err="1">
                <a:latin typeface="Fira Mono" panose="020B0509050000020004" pitchFamily="49" charset="0"/>
                <a:ea typeface="Fira Mono" panose="020B0509050000020004" pitchFamily="49" charset="0"/>
              </a:rPr>
              <a:t>TreatmentDrugB:DietHighFat</a:t>
            </a:r>
            <a:r>
              <a:rPr lang="en-US" sz="800" dirty="0">
                <a:latin typeface="Fira Mono" panose="020B0509050000020004" pitchFamily="49" charset="0"/>
                <a:ea typeface="Fira Mono" panose="020B0509050000020004" pitchFamily="49" charset="0"/>
              </a:rPr>
              <a:t> -0.275312  0.443040 -0.621417  0.53559 </a:t>
            </a: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8F016CFD-B79B-708E-F335-4CF51A25248E}"/>
              </a:ext>
            </a:extLst>
          </p:cNvPr>
          <p:cNvSpPr txBox="1"/>
          <p:nvPr/>
        </p:nvSpPr>
        <p:spPr>
          <a:xfrm>
            <a:off x="9375228" y="3279228"/>
            <a:ext cx="184731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endParaRPr lang="en-US" dirty="0"/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B4F2DC70-D222-D871-D2FC-5815430BC722}"/>
              </a:ext>
            </a:extLst>
          </p:cNvPr>
          <p:cNvSpPr txBox="1"/>
          <p:nvPr/>
        </p:nvSpPr>
        <p:spPr>
          <a:xfrm>
            <a:off x="-1083013" y="713362"/>
            <a:ext cx="184731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508344690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1348000-8DB4-EFA8-B151-AF1410B425F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NOTES on LMM</a:t>
            </a:r>
          </a:p>
        </p:txBody>
      </p:sp>
    </p:spTree>
    <p:extLst>
      <p:ext uri="{BB962C8B-B14F-4D97-AF65-F5344CB8AC3E}">
        <p14:creationId xmlns:p14="http://schemas.microsoft.com/office/powerpoint/2010/main" val="346991280"/>
      </p:ext>
    </p:extLst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Box 2">
            <a:extLst>
              <a:ext uri="{FF2B5EF4-FFF2-40B4-BE49-F238E27FC236}">
                <a16:creationId xmlns:a16="http://schemas.microsoft.com/office/drawing/2014/main" id="{184EEA22-109C-8598-D181-3B420FE4ECED}"/>
              </a:ext>
            </a:extLst>
          </p:cNvPr>
          <p:cNvSpPr txBox="1"/>
          <p:nvPr/>
        </p:nvSpPr>
        <p:spPr>
          <a:xfrm>
            <a:off x="635876" y="117693"/>
            <a:ext cx="8019393" cy="674030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buNone/>
            </a:pPr>
            <a:r>
              <a:rPr lang="en-US" b="1" dirty="0"/>
              <a:t>🐔 Random Effects</a:t>
            </a:r>
          </a:p>
          <a:p>
            <a:pPr>
              <a:buNone/>
            </a:pPr>
            <a:endParaRPr lang="en-US" b="1" dirty="0"/>
          </a:p>
          <a:p>
            <a:pPr>
              <a:buNone/>
            </a:pPr>
            <a:r>
              <a:rPr lang="en-US" b="1" dirty="0"/>
              <a:t>What they represent</a:t>
            </a:r>
          </a:p>
          <a:p>
            <a:pPr>
              <a:buFont typeface="Arial" panose="020B0604020202020204" pitchFamily="34" charset="0"/>
              <a:buChar char="•"/>
            </a:pPr>
            <a:r>
              <a:rPr lang="en-US" dirty="0"/>
              <a:t> They capture </a:t>
            </a:r>
            <a:r>
              <a:rPr lang="en-US" b="1" dirty="0"/>
              <a:t>natural differences between individual animals</a:t>
            </a:r>
            <a:r>
              <a:rPr lang="en-US" dirty="0"/>
              <a:t>.</a:t>
            </a:r>
          </a:p>
          <a:p>
            <a:pPr>
              <a:buFont typeface="Arial" panose="020B0604020202020204" pitchFamily="34" charset="0"/>
              <a:buChar char="•"/>
            </a:pPr>
            <a:r>
              <a:rPr lang="en-US" dirty="0"/>
              <a:t> Every chicken has its own baseline weight or behavior.</a:t>
            </a:r>
          </a:p>
          <a:p>
            <a:pPr>
              <a:buFont typeface="Arial" panose="020B0604020202020204" pitchFamily="34" charset="0"/>
              <a:buChar char="•"/>
            </a:pPr>
            <a:r>
              <a:rPr lang="en-US" dirty="0"/>
              <a:t> Random effects allow the model to </a:t>
            </a:r>
            <a:r>
              <a:rPr lang="en-US" b="1" dirty="0"/>
              <a:t>give each animal its own starting level</a:t>
            </a:r>
            <a:r>
              <a:rPr lang="en-US" dirty="0"/>
              <a:t>, instead of forcing all animals to be identical.</a:t>
            </a:r>
          </a:p>
          <a:p>
            <a:pPr>
              <a:buNone/>
            </a:pPr>
            <a:endParaRPr lang="en-US" b="1" dirty="0"/>
          </a:p>
          <a:p>
            <a:pPr>
              <a:buNone/>
            </a:pPr>
            <a:r>
              <a:rPr lang="en-US" b="1" dirty="0"/>
              <a:t>Why we need them</a:t>
            </a:r>
          </a:p>
          <a:p>
            <a:pPr>
              <a:buFont typeface="Arial" panose="020B0604020202020204" pitchFamily="34" charset="0"/>
              <a:buChar char="•"/>
            </a:pPr>
            <a:r>
              <a:rPr lang="en-US" dirty="0"/>
              <a:t> Animals in the same treatment group are </a:t>
            </a:r>
            <a:r>
              <a:rPr lang="en-US" i="1" dirty="0"/>
              <a:t>not</a:t>
            </a:r>
            <a:r>
              <a:rPr lang="en-US" dirty="0"/>
              <a:t> clones.</a:t>
            </a:r>
          </a:p>
          <a:p>
            <a:pPr>
              <a:buFont typeface="Arial" panose="020B0604020202020204" pitchFamily="34" charset="0"/>
              <a:buChar char="•"/>
            </a:pPr>
            <a:r>
              <a:rPr lang="en-US" dirty="0"/>
              <a:t> Some chickens naturally grow faster or slower, regardless of treatment.</a:t>
            </a:r>
          </a:p>
          <a:p>
            <a:pPr>
              <a:buFont typeface="Arial" panose="020B0604020202020204" pitchFamily="34" charset="0"/>
              <a:buChar char="•"/>
            </a:pPr>
            <a:r>
              <a:rPr lang="en-US" dirty="0"/>
              <a:t> Ignoring these differences makes the analysis less accurate, more biased and too optimistic about significance.</a:t>
            </a:r>
          </a:p>
          <a:p>
            <a:pPr>
              <a:buNone/>
            </a:pPr>
            <a:endParaRPr lang="en-US" b="1" dirty="0"/>
          </a:p>
          <a:p>
            <a:pPr>
              <a:buNone/>
            </a:pPr>
            <a:r>
              <a:rPr lang="en-US" b="1" dirty="0"/>
              <a:t>What the model does with them</a:t>
            </a:r>
          </a:p>
          <a:p>
            <a:pPr>
              <a:buFont typeface="Arial" panose="020B0604020202020204" pitchFamily="34" charset="0"/>
              <a:buChar char="•"/>
            </a:pPr>
            <a:r>
              <a:rPr lang="en-US" dirty="0"/>
              <a:t> The model estimates how much animals </a:t>
            </a:r>
            <a:r>
              <a:rPr lang="en-US" b="1" dirty="0"/>
              <a:t>differ from each other on average</a:t>
            </a:r>
            <a:r>
              <a:rPr lang="en-US" dirty="0"/>
              <a:t>.</a:t>
            </a:r>
          </a:p>
          <a:p>
            <a:pPr>
              <a:buFont typeface="Arial" panose="020B0604020202020204" pitchFamily="34" charset="0"/>
              <a:buChar char="•"/>
            </a:pPr>
            <a:r>
              <a:rPr lang="en-US" dirty="0"/>
              <a:t> It adjusts treatment effects so they are not inflated by animal-to-animal variation.</a:t>
            </a:r>
          </a:p>
          <a:p>
            <a:pPr>
              <a:buFont typeface="Arial" panose="020B0604020202020204" pitchFamily="34" charset="0"/>
              <a:buChar char="•"/>
            </a:pPr>
            <a:r>
              <a:rPr lang="en-US" dirty="0"/>
              <a:t> The random effect acts like a </a:t>
            </a:r>
            <a:r>
              <a:rPr lang="en-US" b="1" dirty="0"/>
              <a:t>baseline correction</a:t>
            </a:r>
            <a:r>
              <a:rPr lang="en-US" dirty="0"/>
              <a:t> for each individual animal.</a:t>
            </a:r>
          </a:p>
          <a:p>
            <a:pPr>
              <a:buNone/>
            </a:pPr>
            <a:endParaRPr lang="en-US" b="1" dirty="0"/>
          </a:p>
          <a:p>
            <a:pPr>
              <a:buNone/>
            </a:pPr>
            <a:r>
              <a:rPr lang="en-US" b="1" dirty="0"/>
              <a:t>Veterinary practice interpretation</a:t>
            </a:r>
          </a:p>
          <a:p>
            <a:pPr>
              <a:buFont typeface="Arial" panose="020B0604020202020204" pitchFamily="34" charset="0"/>
              <a:buChar char="•"/>
            </a:pPr>
            <a:r>
              <a:rPr lang="en-US" dirty="0"/>
              <a:t> If random-effect variance is large:</a:t>
            </a:r>
            <a:br>
              <a:rPr lang="en-US" dirty="0"/>
            </a:br>
            <a:r>
              <a:rPr lang="en-US" dirty="0"/>
              <a:t> → animals in the trial vary a lot biologically.</a:t>
            </a:r>
          </a:p>
          <a:p>
            <a:pPr>
              <a:buFont typeface="Arial" panose="020B0604020202020204" pitchFamily="34" charset="0"/>
              <a:buChar char="•"/>
            </a:pPr>
            <a:r>
              <a:rPr lang="en-US" dirty="0"/>
              <a:t> If it's small:</a:t>
            </a:r>
            <a:br>
              <a:rPr lang="en-US" dirty="0"/>
            </a:br>
            <a:r>
              <a:rPr lang="en-US" dirty="0"/>
              <a:t> → animals behave very similarly; group differences dominate.</a:t>
            </a:r>
          </a:p>
        </p:txBody>
      </p:sp>
    </p:spTree>
    <p:extLst>
      <p:ext uri="{BB962C8B-B14F-4D97-AF65-F5344CB8AC3E}">
        <p14:creationId xmlns:p14="http://schemas.microsoft.com/office/powerpoint/2010/main" val="2723014488"/>
      </p:ext>
    </p:extLst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Box 2">
            <a:extLst>
              <a:ext uri="{FF2B5EF4-FFF2-40B4-BE49-F238E27FC236}">
                <a16:creationId xmlns:a16="http://schemas.microsoft.com/office/drawing/2014/main" id="{A2C47E32-1372-DB94-ECDF-E801FEE80F01}"/>
              </a:ext>
            </a:extLst>
          </p:cNvPr>
          <p:cNvSpPr txBox="1"/>
          <p:nvPr/>
        </p:nvSpPr>
        <p:spPr>
          <a:xfrm>
            <a:off x="273269" y="181957"/>
            <a:ext cx="8870731" cy="590931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buNone/>
            </a:pPr>
            <a:r>
              <a:rPr lang="en-US" b="1" dirty="0"/>
              <a:t>🐔 Intraclass Correlation Coefficient (ICC)</a:t>
            </a:r>
          </a:p>
          <a:p>
            <a:pPr>
              <a:buNone/>
            </a:pPr>
            <a:endParaRPr lang="en-US" b="1" dirty="0"/>
          </a:p>
          <a:p>
            <a:pPr>
              <a:buNone/>
            </a:pPr>
            <a:r>
              <a:rPr lang="en-US" b="1" dirty="0"/>
              <a:t>What ICC measures</a:t>
            </a:r>
          </a:p>
          <a:p>
            <a:pPr>
              <a:buFont typeface="Arial" panose="020B0604020202020204" pitchFamily="34" charset="0"/>
              <a:buChar char="•"/>
            </a:pPr>
            <a:r>
              <a:rPr lang="en-US" dirty="0"/>
              <a:t> ICC tells you </a:t>
            </a:r>
            <a:r>
              <a:rPr lang="en-US" b="1" dirty="0"/>
              <a:t>how much of the total variability comes from real biological differences between animals</a:t>
            </a:r>
            <a:r>
              <a:rPr lang="en-US" dirty="0"/>
              <a:t>.</a:t>
            </a:r>
          </a:p>
          <a:p>
            <a:pPr>
              <a:buFont typeface="Arial" panose="020B0604020202020204" pitchFamily="34" charset="0"/>
              <a:buChar char="•"/>
            </a:pPr>
            <a:r>
              <a:rPr lang="en-US" dirty="0"/>
              <a:t> It is the </a:t>
            </a:r>
            <a:r>
              <a:rPr lang="en-US" b="1" dirty="0"/>
              <a:t>proportion of variance explained by the animal itself</a:t>
            </a:r>
            <a:r>
              <a:rPr lang="en-US" dirty="0"/>
              <a:t>, not by treatment or random noise.</a:t>
            </a:r>
          </a:p>
          <a:p>
            <a:pPr>
              <a:buNone/>
            </a:pPr>
            <a:endParaRPr lang="en-US" b="1" dirty="0"/>
          </a:p>
          <a:p>
            <a:pPr>
              <a:buNone/>
            </a:pPr>
            <a:r>
              <a:rPr lang="en-US" b="1" dirty="0"/>
              <a:t>How to read ICC values</a:t>
            </a:r>
          </a:p>
          <a:p>
            <a:pPr>
              <a:buFont typeface="Arial" panose="020B0604020202020204" pitchFamily="34" charset="0"/>
              <a:buChar char="•"/>
            </a:pPr>
            <a:r>
              <a:rPr lang="en-US" b="1" dirty="0"/>
              <a:t> ICC ≈ 0.00–0.10 → low animal individuality</a:t>
            </a:r>
            <a:br>
              <a:rPr lang="en-US" dirty="0"/>
            </a:br>
            <a:r>
              <a:rPr lang="en-US" dirty="0"/>
              <a:t>Animals behave similarly; treatment or noise dominates.</a:t>
            </a:r>
          </a:p>
          <a:p>
            <a:pPr>
              <a:buFont typeface="Arial" panose="020B0604020202020204" pitchFamily="34" charset="0"/>
              <a:buChar char="•"/>
            </a:pPr>
            <a:r>
              <a:rPr lang="en-US" b="1" dirty="0"/>
              <a:t> ICC ≈ 0.20–0.40 → moderate individuality</a:t>
            </a:r>
            <a:br>
              <a:rPr lang="en-US" dirty="0"/>
            </a:br>
            <a:r>
              <a:rPr lang="en-US" dirty="0"/>
              <a:t>Animals have meaningful biological differences.</a:t>
            </a:r>
            <a:br>
              <a:rPr lang="en-US" dirty="0"/>
            </a:br>
            <a:r>
              <a:rPr lang="en-US" dirty="0"/>
              <a:t>This is typical in growth, behavior, physiology.</a:t>
            </a:r>
          </a:p>
          <a:p>
            <a:pPr>
              <a:buFont typeface="Arial" panose="020B0604020202020204" pitchFamily="34" charset="0"/>
              <a:buChar char="•"/>
            </a:pPr>
            <a:r>
              <a:rPr lang="en-US" b="1" dirty="0"/>
              <a:t> ICC &gt; 0.40 → strong individuality</a:t>
            </a:r>
            <a:br>
              <a:rPr lang="en-US" dirty="0"/>
            </a:br>
            <a:r>
              <a:rPr lang="en-US" dirty="0"/>
              <a:t>Each animal is quite different, and repeated measurements cluster tightly within each animal.</a:t>
            </a:r>
          </a:p>
          <a:p>
            <a:pPr>
              <a:buNone/>
            </a:pPr>
            <a:endParaRPr lang="en-US" b="1" dirty="0"/>
          </a:p>
          <a:p>
            <a:pPr>
              <a:buNone/>
            </a:pPr>
            <a:r>
              <a:rPr lang="en-US" b="1" dirty="0"/>
              <a:t>What ICC means in practice</a:t>
            </a:r>
          </a:p>
          <a:p>
            <a:pPr>
              <a:buFont typeface="Arial" panose="020B0604020202020204" pitchFamily="34" charset="0"/>
              <a:buChar char="•"/>
            </a:pPr>
            <a:r>
              <a:rPr lang="en-US" dirty="0"/>
              <a:t> High ICC means repeated measurements from the same animal are </a:t>
            </a:r>
            <a:r>
              <a:rPr lang="en-US" b="1" dirty="0"/>
              <a:t>more similar to each other</a:t>
            </a:r>
            <a:r>
              <a:rPr lang="en-US" dirty="0"/>
              <a:t> than to measurements from other animals.</a:t>
            </a:r>
          </a:p>
          <a:p>
            <a:pPr>
              <a:buFont typeface="Arial" panose="020B0604020202020204" pitchFamily="34" charset="0"/>
              <a:buChar char="•"/>
            </a:pPr>
            <a:r>
              <a:rPr lang="en-US" dirty="0"/>
              <a:t> Low ICC means each animal behaves </a:t>
            </a:r>
            <a:r>
              <a:rPr lang="en-US" b="1" dirty="0"/>
              <a:t>more like the group</a:t>
            </a:r>
            <a:r>
              <a:rPr lang="en-US" dirty="0"/>
              <a:t>, with weak individuality.</a:t>
            </a:r>
          </a:p>
        </p:txBody>
      </p:sp>
    </p:spTree>
    <p:extLst>
      <p:ext uri="{BB962C8B-B14F-4D97-AF65-F5344CB8AC3E}">
        <p14:creationId xmlns:p14="http://schemas.microsoft.com/office/powerpoint/2010/main" val="2770030396"/>
      </p:ext>
    </p:extLst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422C693-2DDA-4516-F114-168172E1FA9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D3E04D5-C666-B927-1436-9983B7522F0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NOTES on PCA</a:t>
            </a:r>
          </a:p>
        </p:txBody>
      </p:sp>
    </p:spTree>
    <p:extLst>
      <p:ext uri="{BB962C8B-B14F-4D97-AF65-F5344CB8AC3E}">
        <p14:creationId xmlns:p14="http://schemas.microsoft.com/office/powerpoint/2010/main" val="1646739362"/>
      </p:ext>
    </p:extLst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98961D4-A409-0CCA-2366-A2A339784C3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TextBox 5">
            <a:extLst>
              <a:ext uri="{FF2B5EF4-FFF2-40B4-BE49-F238E27FC236}">
                <a16:creationId xmlns:a16="http://schemas.microsoft.com/office/drawing/2014/main" id="{BABBF7E7-4397-9A8E-5361-4241BE9843B7}"/>
              </a:ext>
            </a:extLst>
          </p:cNvPr>
          <p:cNvSpPr txBox="1"/>
          <p:nvPr/>
        </p:nvSpPr>
        <p:spPr>
          <a:xfrm>
            <a:off x="204952" y="612844"/>
            <a:ext cx="7709338" cy="286232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buNone/>
            </a:pPr>
            <a:r>
              <a:rPr lang="en-US" b="1" dirty="0"/>
              <a:t>🐔 How to Interpret PCA </a:t>
            </a:r>
          </a:p>
          <a:p>
            <a:pPr>
              <a:buNone/>
            </a:pPr>
            <a:endParaRPr lang="en-US" b="1" dirty="0"/>
          </a:p>
          <a:p>
            <a:pPr>
              <a:buNone/>
            </a:pPr>
            <a:endParaRPr lang="en-US" b="1" dirty="0"/>
          </a:p>
          <a:p>
            <a:pPr>
              <a:buNone/>
            </a:pPr>
            <a:endParaRPr lang="en-US" b="1" dirty="0"/>
          </a:p>
          <a:p>
            <a:pPr>
              <a:buNone/>
            </a:pPr>
            <a:endParaRPr lang="en-US" b="1" dirty="0"/>
          </a:p>
          <a:p>
            <a:pPr>
              <a:buNone/>
            </a:pPr>
            <a:endParaRPr lang="en-US" b="1" dirty="0"/>
          </a:p>
          <a:p>
            <a:pPr>
              <a:buNone/>
            </a:pPr>
            <a:endParaRPr lang="en-US" b="1" dirty="0"/>
          </a:p>
          <a:p>
            <a:pPr>
              <a:buNone/>
            </a:pPr>
            <a:endParaRPr lang="en-US" b="1" dirty="0"/>
          </a:p>
          <a:p>
            <a:pPr>
              <a:buNone/>
            </a:pPr>
            <a:endParaRPr lang="en-US" b="1" dirty="0"/>
          </a:p>
          <a:p>
            <a:pPr>
              <a:buNone/>
            </a:pPr>
            <a:endParaRPr lang="en-US" b="1" dirty="0"/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9D2A610C-E699-6D0E-4A74-F14E40BF6778}"/>
              </a:ext>
            </a:extLst>
          </p:cNvPr>
          <p:cNvSpPr txBox="1"/>
          <p:nvPr/>
        </p:nvSpPr>
        <p:spPr>
          <a:xfrm>
            <a:off x="357351" y="1661747"/>
            <a:ext cx="4440622" cy="19389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buNone/>
            </a:pPr>
            <a:r>
              <a:rPr lang="en-US" sz="800" b="0" i="0" dirty="0">
                <a:solidFill>
                  <a:srgbClr val="000000"/>
                </a:solidFill>
                <a:effectLst/>
                <a:latin typeface="Fira Mono" panose="020B0509050000020004" pitchFamily="49" charset="0"/>
              </a:rPr>
              <a:t>── PCA Summary ──</a:t>
            </a:r>
          </a:p>
          <a:p>
            <a:pPr algn="l">
              <a:buNone/>
            </a:pPr>
            <a:r>
              <a:rPr lang="en-US" sz="800" b="0" i="0" dirty="0">
                <a:solidFill>
                  <a:srgbClr val="000000"/>
                </a:solidFill>
                <a:effectLst/>
                <a:latin typeface="Fira Mono" panose="020B0509050000020004" pitchFamily="49" charset="0"/>
              </a:rPr>
              <a:t>Importance of components:</a:t>
            </a:r>
          </a:p>
          <a:p>
            <a:pPr algn="l">
              <a:buNone/>
            </a:pPr>
            <a:r>
              <a:rPr lang="en-US" sz="800" b="0" i="0" dirty="0">
                <a:solidFill>
                  <a:srgbClr val="000000"/>
                </a:solidFill>
                <a:effectLst/>
                <a:latin typeface="Fira Mono" panose="020B0509050000020004" pitchFamily="49" charset="0"/>
              </a:rPr>
              <a:t>                          PC1    PC2    PC3    PC4     PC5     PC6</a:t>
            </a:r>
          </a:p>
          <a:p>
            <a:pPr algn="l">
              <a:buNone/>
            </a:pPr>
            <a:r>
              <a:rPr lang="en-US" sz="800" b="0" i="0" dirty="0">
                <a:solidFill>
                  <a:srgbClr val="000000"/>
                </a:solidFill>
                <a:effectLst/>
                <a:latin typeface="Fira Mono" panose="020B0509050000020004" pitchFamily="49" charset="0"/>
              </a:rPr>
              <a:t>Standard deviation     1.4475 1.1806 0.9907 0.7925 0.69433 0.64737</a:t>
            </a:r>
          </a:p>
          <a:p>
            <a:pPr algn="l">
              <a:buNone/>
            </a:pPr>
            <a:r>
              <a:rPr lang="en-US" sz="800" b="0" i="0" dirty="0">
                <a:solidFill>
                  <a:srgbClr val="000000"/>
                </a:solidFill>
                <a:effectLst/>
                <a:latin typeface="Fira Mono" panose="020B0509050000020004" pitchFamily="49" charset="0"/>
              </a:rPr>
              <a:t>Proportion of Variance 0.3492 0.2323 0.1636 0.1047 0.08035 0.06985</a:t>
            </a:r>
          </a:p>
          <a:p>
            <a:pPr algn="l">
              <a:buNone/>
            </a:pPr>
            <a:r>
              <a:rPr lang="en-US" sz="800" b="0" i="0" dirty="0">
                <a:solidFill>
                  <a:srgbClr val="000000"/>
                </a:solidFill>
                <a:effectLst/>
                <a:latin typeface="Fira Mono" panose="020B0509050000020004" pitchFamily="49" charset="0"/>
              </a:rPr>
              <a:t>Cumulative Proportion  0.3492 0.5815 0.7451 0.8498 0.93015 1.00000</a:t>
            </a:r>
          </a:p>
          <a:p>
            <a:pPr algn="l">
              <a:buNone/>
            </a:pPr>
            <a:endParaRPr lang="en-US" sz="800" b="0" i="0" dirty="0">
              <a:solidFill>
                <a:srgbClr val="000000"/>
              </a:solidFill>
              <a:effectLst/>
              <a:latin typeface="Fira Mono" panose="020B0509050000020004" pitchFamily="49" charset="0"/>
            </a:endParaRPr>
          </a:p>
          <a:p>
            <a:pPr algn="l">
              <a:buNone/>
            </a:pPr>
            <a:r>
              <a:rPr lang="en-US" sz="800" b="0" i="0" dirty="0">
                <a:solidFill>
                  <a:srgbClr val="000000"/>
                </a:solidFill>
                <a:effectLst/>
                <a:latin typeface="Fira Mono" panose="020B0509050000020004" pitchFamily="49" charset="0"/>
              </a:rPr>
              <a:t>── PCA Loadings (rotation matrix) ──</a:t>
            </a:r>
          </a:p>
          <a:p>
            <a:pPr algn="l">
              <a:buNone/>
            </a:pPr>
            <a:r>
              <a:rPr lang="en-US" sz="800" b="0" i="0" dirty="0">
                <a:solidFill>
                  <a:srgbClr val="000000"/>
                </a:solidFill>
                <a:effectLst/>
                <a:latin typeface="Fira Mono" panose="020B0509050000020004" pitchFamily="49" charset="0"/>
              </a:rPr>
              <a:t>                   PC1    PC2    PC3    PC4    PC5    PC6</a:t>
            </a:r>
          </a:p>
          <a:p>
            <a:pPr algn="l">
              <a:buNone/>
            </a:pPr>
            <a:r>
              <a:rPr lang="en-US" sz="800" b="0" i="0" dirty="0" err="1">
                <a:solidFill>
                  <a:srgbClr val="000000"/>
                </a:solidFill>
                <a:effectLst/>
                <a:latin typeface="Fira Mono" panose="020B0509050000020004" pitchFamily="49" charset="0"/>
              </a:rPr>
              <a:t>Weight_baseline</a:t>
            </a:r>
            <a:r>
              <a:rPr lang="en-US" sz="800" b="0" i="0" dirty="0">
                <a:solidFill>
                  <a:srgbClr val="000000"/>
                </a:solidFill>
                <a:effectLst/>
                <a:latin typeface="Fira Mono" panose="020B0509050000020004" pitchFamily="49" charset="0"/>
              </a:rPr>
              <a:t> -0.062 -0.227 -0.965  0.046  0.001  0.106</a:t>
            </a:r>
          </a:p>
          <a:p>
            <a:pPr algn="l">
              <a:buNone/>
            </a:pPr>
            <a:r>
              <a:rPr lang="en-US" sz="800" b="0" i="0" dirty="0">
                <a:solidFill>
                  <a:srgbClr val="000000"/>
                </a:solidFill>
                <a:effectLst/>
                <a:latin typeface="Fira Mono" panose="020B0509050000020004" pitchFamily="49" charset="0"/>
              </a:rPr>
              <a:t>Cortisol        -0.587  0.034 -0.057  0.035 -0.013 -0.806</a:t>
            </a:r>
          </a:p>
          <a:p>
            <a:pPr algn="l">
              <a:buNone/>
            </a:pPr>
            <a:r>
              <a:rPr lang="en-US" sz="800" b="0" i="0" dirty="0">
                <a:solidFill>
                  <a:srgbClr val="000000"/>
                </a:solidFill>
                <a:effectLst/>
                <a:latin typeface="Fira Mono" panose="020B0509050000020004" pitchFamily="49" charset="0"/>
              </a:rPr>
              <a:t>Glucose         -0.482 -0.388  0.159  0.048  0.701  0.314</a:t>
            </a:r>
          </a:p>
          <a:p>
            <a:pPr algn="l">
              <a:buNone/>
            </a:pPr>
            <a:r>
              <a:rPr lang="en-US" sz="800" b="0" i="0" dirty="0" err="1">
                <a:solidFill>
                  <a:srgbClr val="000000"/>
                </a:solidFill>
                <a:effectLst/>
                <a:latin typeface="Fira Mono" panose="020B0509050000020004" pitchFamily="49" charset="0"/>
              </a:rPr>
              <a:t>FeedIntake</a:t>
            </a:r>
            <a:r>
              <a:rPr lang="en-US" sz="800" b="0" i="0" dirty="0">
                <a:solidFill>
                  <a:srgbClr val="000000"/>
                </a:solidFill>
                <a:effectLst/>
                <a:latin typeface="Fira Mono" panose="020B0509050000020004" pitchFamily="49" charset="0"/>
              </a:rPr>
              <a:t>       0.172 -0.662  0.092 -0.685 -0.138 -0.187</a:t>
            </a:r>
          </a:p>
          <a:p>
            <a:pPr algn="l">
              <a:buNone/>
            </a:pPr>
            <a:r>
              <a:rPr lang="en-US" sz="800" b="0" i="0" dirty="0" err="1">
                <a:solidFill>
                  <a:srgbClr val="000000"/>
                </a:solidFill>
                <a:effectLst/>
                <a:latin typeface="Fira Mono" panose="020B0509050000020004" pitchFamily="49" charset="0"/>
              </a:rPr>
              <a:t>HeartRate</a:t>
            </a:r>
            <a:r>
              <a:rPr lang="en-US" sz="800" b="0" i="0" dirty="0">
                <a:solidFill>
                  <a:srgbClr val="000000"/>
                </a:solidFill>
                <a:effectLst/>
                <a:latin typeface="Fira Mono" panose="020B0509050000020004" pitchFamily="49" charset="0"/>
              </a:rPr>
              <a:t>        0.296 -0.570  0.125  0.719 -0.093 -0.216</a:t>
            </a:r>
          </a:p>
          <a:p>
            <a:pPr algn="l">
              <a:buNone/>
            </a:pPr>
            <a:r>
              <a:rPr lang="en-US" sz="800" b="0" i="0" dirty="0" err="1">
                <a:solidFill>
                  <a:srgbClr val="000000"/>
                </a:solidFill>
                <a:effectLst/>
                <a:latin typeface="Fira Mono" panose="020B0509050000020004" pitchFamily="49" charset="0"/>
              </a:rPr>
              <a:t>BodyTemp</a:t>
            </a:r>
            <a:r>
              <a:rPr lang="en-US" sz="800" b="0" i="0" dirty="0">
                <a:solidFill>
                  <a:srgbClr val="000000"/>
                </a:solidFill>
                <a:effectLst/>
                <a:latin typeface="Fira Mono" panose="020B0509050000020004" pitchFamily="49" charset="0"/>
              </a:rPr>
              <a:t>        -0.550 -0.185  0.126  0.088 -0.693  0.399</a:t>
            </a: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28219FDC-BED7-E0F8-0107-163E3A20E6FD}"/>
              </a:ext>
            </a:extLst>
          </p:cNvPr>
          <p:cNvSpPr txBox="1"/>
          <p:nvPr/>
        </p:nvSpPr>
        <p:spPr>
          <a:xfrm>
            <a:off x="4703380" y="1074509"/>
            <a:ext cx="4572000" cy="480131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b="1" dirty="0"/>
              <a:t>1. Standard deviations (PC strength)</a:t>
            </a:r>
          </a:p>
          <a:p>
            <a:r>
              <a:rPr lang="en-US" dirty="0"/>
              <a:t>Each principal component has a </a:t>
            </a:r>
            <a:r>
              <a:rPr lang="en-US" b="1" dirty="0"/>
              <a:t>standard deviation</a:t>
            </a:r>
            <a:r>
              <a:rPr lang="en-US" dirty="0"/>
              <a:t> showing how widely animals spread along that axis.</a:t>
            </a:r>
          </a:p>
          <a:p>
            <a:r>
              <a:rPr lang="en-US" b="1" dirty="0"/>
              <a:t>Bigger SD = more biological variation captured.</a:t>
            </a:r>
            <a:endParaRPr lang="en-US" dirty="0"/>
          </a:p>
          <a:p>
            <a:pPr lvl="1"/>
            <a:r>
              <a:rPr lang="en-US" dirty="0"/>
              <a:t>PC1 SD = </a:t>
            </a:r>
            <a:r>
              <a:rPr lang="en-US" b="1" dirty="0"/>
              <a:t>1.45</a:t>
            </a:r>
            <a:r>
              <a:rPr lang="en-US" dirty="0"/>
              <a:t> → strongest pattern</a:t>
            </a:r>
          </a:p>
          <a:p>
            <a:pPr lvl="1"/>
            <a:r>
              <a:rPr lang="en-US" dirty="0"/>
              <a:t>PC2 SD = </a:t>
            </a:r>
            <a:r>
              <a:rPr lang="en-US" b="1" dirty="0"/>
              <a:t>1.18</a:t>
            </a:r>
            <a:endParaRPr lang="en-US" dirty="0"/>
          </a:p>
          <a:p>
            <a:pPr lvl="1"/>
            <a:r>
              <a:rPr lang="en-US" dirty="0"/>
              <a:t>PC3 SD = </a:t>
            </a:r>
            <a:r>
              <a:rPr lang="en-US" b="1" dirty="0"/>
              <a:t>0.99</a:t>
            </a:r>
          </a:p>
          <a:p>
            <a:pPr lvl="1"/>
            <a:endParaRPr lang="en-US" dirty="0"/>
          </a:p>
          <a:p>
            <a:r>
              <a:rPr lang="en-US" b="1" dirty="0"/>
              <a:t>2. Proportion of variance (importance)</a:t>
            </a:r>
          </a:p>
          <a:p>
            <a:r>
              <a:rPr lang="en-US" dirty="0"/>
              <a:t>Tells how much of the entire dataset each PC explains.</a:t>
            </a:r>
          </a:p>
          <a:p>
            <a:r>
              <a:rPr lang="en-US" b="1" dirty="0"/>
              <a:t>PC1 = 35%</a:t>
            </a:r>
            <a:r>
              <a:rPr lang="en-US" dirty="0"/>
              <a:t>, </a:t>
            </a:r>
            <a:r>
              <a:rPr lang="en-US" b="1" dirty="0"/>
              <a:t>PC2 = 23%</a:t>
            </a:r>
            <a:r>
              <a:rPr lang="en-US" dirty="0"/>
              <a:t>, </a:t>
            </a:r>
            <a:r>
              <a:rPr lang="en-US" b="1" dirty="0"/>
              <a:t>PC3 = 16%</a:t>
            </a:r>
            <a:endParaRPr lang="en-US" dirty="0"/>
          </a:p>
          <a:p>
            <a:r>
              <a:rPr lang="en-US" dirty="0"/>
              <a:t>PC1 + PC2 = </a:t>
            </a:r>
            <a:r>
              <a:rPr lang="en-US" b="1" dirty="0"/>
              <a:t>58%</a:t>
            </a:r>
            <a:r>
              <a:rPr lang="en-US" dirty="0"/>
              <a:t> → more than half of all differences between animals.</a:t>
            </a:r>
          </a:p>
          <a:p>
            <a:endParaRPr lang="en-US" dirty="0"/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C53B9A57-5078-437C-207C-D3D33CE7D652}"/>
              </a:ext>
            </a:extLst>
          </p:cNvPr>
          <p:cNvSpPr txBox="1"/>
          <p:nvPr/>
        </p:nvSpPr>
        <p:spPr>
          <a:xfrm>
            <a:off x="270642" y="4465482"/>
            <a:ext cx="4614040" cy="203132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b="1" dirty="0"/>
              <a:t>3. Loadings (what each PC represents biologically)</a:t>
            </a:r>
          </a:p>
          <a:p>
            <a:r>
              <a:rPr lang="en-US" dirty="0"/>
              <a:t>Loadings show </a:t>
            </a:r>
            <a:r>
              <a:rPr lang="en-US" b="1" dirty="0"/>
              <a:t>how each original measurement contributes</a:t>
            </a:r>
            <a:r>
              <a:rPr lang="en-US" dirty="0"/>
              <a:t> to a PC.</a:t>
            </a:r>
          </a:p>
          <a:p>
            <a:r>
              <a:rPr lang="en-US" b="1" dirty="0"/>
              <a:t>Large absolute values</a:t>
            </a:r>
            <a:r>
              <a:rPr lang="en-US" dirty="0"/>
              <a:t> = strong influence.</a:t>
            </a:r>
          </a:p>
          <a:p>
            <a:r>
              <a:rPr lang="en-US" b="1" dirty="0"/>
              <a:t>Same sign</a:t>
            </a:r>
            <a:r>
              <a:rPr lang="en-US" dirty="0"/>
              <a:t> = variables increase together; </a:t>
            </a:r>
            <a:r>
              <a:rPr lang="en-US" b="1" dirty="0"/>
              <a:t>opposite sign</a:t>
            </a:r>
            <a:r>
              <a:rPr lang="en-US" dirty="0"/>
              <a:t> = move in opposite directions.</a:t>
            </a:r>
          </a:p>
        </p:txBody>
      </p:sp>
    </p:spTree>
    <p:extLst>
      <p:ext uri="{BB962C8B-B14F-4D97-AF65-F5344CB8AC3E}">
        <p14:creationId xmlns:p14="http://schemas.microsoft.com/office/powerpoint/2010/main" val="2548628455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4312</TotalTime>
  <Words>2140</Words>
  <Application>Microsoft Macintosh PowerPoint</Application>
  <PresentationFormat>On-screen Show (4:3)</PresentationFormat>
  <Paragraphs>270</Paragraphs>
  <Slides>20</Slides>
  <Notes>2</Notes>
  <HiddenSlides>0</HiddenSlides>
  <MMClips>0</MMClips>
  <ScaleCrop>false</ScaleCrop>
  <HeadingPairs>
    <vt:vector size="6" baseType="variant">
      <vt:variant>
        <vt:lpstr>Fonts Used</vt:lpstr>
      </vt:variant>
      <vt:variant>
        <vt:i4>5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20</vt:i4>
      </vt:variant>
    </vt:vector>
  </HeadingPairs>
  <TitlesOfParts>
    <vt:vector size="26" baseType="lpstr">
      <vt:lpstr>Aptos</vt:lpstr>
      <vt:lpstr>Arial</vt:lpstr>
      <vt:lpstr>Calibri</vt:lpstr>
      <vt:lpstr>Fira Mono</vt:lpstr>
      <vt:lpstr>Wingdings</vt:lpstr>
      <vt:lpstr>Office Theme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NOTES on DESCRIPTIVE STATISTICS</vt:lpstr>
      <vt:lpstr>PowerPoint Presentation</vt:lpstr>
      <vt:lpstr>PowerPoint Presentation</vt:lpstr>
      <vt:lpstr>PowerPoint Presentation</vt:lpstr>
      <vt:lpstr>NOTES on ANOVA</vt:lpstr>
      <vt:lpstr>PowerPoint Presentation</vt:lpstr>
      <vt:lpstr>PowerPoint Presentation</vt:lpstr>
      <vt:lpstr>NOTES on LM</vt:lpstr>
      <vt:lpstr>PowerPoint Presentation</vt:lpstr>
      <vt:lpstr>PowerPoint Presentation</vt:lpstr>
      <vt:lpstr>NOTES on LMM</vt:lpstr>
      <vt:lpstr>PowerPoint Presentation</vt:lpstr>
      <vt:lpstr>PowerPoint Presentation</vt:lpstr>
      <vt:lpstr>NOTES on PCA</vt:lpstr>
      <vt:lpstr>PowerPoint Presentation</vt:lpstr>
    </vt:vector>
  </TitlesOfParts>
  <Manager/>
  <Company/>
  <LinksUpToDate>false</LinksUpToDate>
  <SharedDoc>false</SharedDoc>
  <HyperlinkBase/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Palmieri Nicola</cp:lastModifiedBy>
  <cp:revision>49</cp:revision>
  <dcterms:created xsi:type="dcterms:W3CDTF">2013-01-27T09:14:16Z</dcterms:created>
  <dcterms:modified xsi:type="dcterms:W3CDTF">2025-11-27T14:29:36Z</dcterms:modified>
  <cp:category/>
</cp:coreProperties>
</file>