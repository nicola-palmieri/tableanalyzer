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66" r:id="rId5"/>
    <p:sldId id="268" r:id="rId6"/>
    <p:sldId id="269" r:id="rId7"/>
    <p:sldId id="262" r:id="rId8"/>
    <p:sldId id="259" r:id="rId9"/>
    <p:sldId id="260" r:id="rId10"/>
    <p:sldId id="263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68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4C4D2F-30A8-1C43-8374-9D9D8BF63153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911241-7DC5-2249-8C77-6E6B4E4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6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11241-7DC5-2249-8C77-6E6B4E4621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73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0F7FF"/>
            </a:gs>
            <a:gs pos="100000">
              <a:srgbClr val="DCECFA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5400" b="1">
                <a:solidFill>
                  <a:srgbClr val="1E3246"/>
                </a:solidFill>
              </a:defRPr>
            </a:pPr>
            <a:r>
              <a:rPr dirty="0"/>
              <a:t>Table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980" y="3657600"/>
            <a:ext cx="71780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  <a:p>
            <a:pPr algn="ctr">
              <a:defRPr sz="2400">
                <a:solidFill>
                  <a:srgbClr val="2C76BC"/>
                </a:solidFill>
              </a:defRPr>
            </a:pPr>
            <a:r>
              <a:rPr lang="en-GB" dirty="0"/>
              <a:t>Turn you tabular data into publication-ready </a:t>
            </a:r>
          </a:p>
          <a:p>
            <a:pPr algn="ctr">
              <a:defRPr sz="2400">
                <a:solidFill>
                  <a:srgbClr val="2C76BC"/>
                </a:solidFill>
              </a:defRPr>
            </a:pPr>
            <a:r>
              <a:rPr lang="en-GB" dirty="0"/>
              <a:t>summary tables and plots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1400">
                <a:solidFill>
                  <a:srgbClr val="1E3246"/>
                </a:solidFill>
              </a:defRPr>
            </a:pPr>
            <a:r>
              <a:t>Developed by Nicola Palmieri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A21E52-2E15-6104-6319-CEFB0A6D0FBB}"/>
              </a:ext>
            </a:extLst>
          </p:cNvPr>
          <p:cNvSpPr txBox="1"/>
          <p:nvPr/>
        </p:nvSpPr>
        <p:spPr>
          <a:xfrm>
            <a:off x="3951890" y="5160579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01.12.2025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BC87B-D5FA-3788-37B7-B5FF88A24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34A4BA-C93F-F175-CB79-50A8F3032521}"/>
              </a:ext>
            </a:extLst>
          </p:cNvPr>
          <p:cNvSpPr txBox="1"/>
          <p:nvPr/>
        </p:nvSpPr>
        <p:spPr>
          <a:xfrm>
            <a:off x="858591" y="612844"/>
            <a:ext cx="77724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Who am 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Bioinformatician specializing in microbial genomics, neuroinformatics, and high-throughput data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Researcher at </a:t>
            </a:r>
            <a:r>
              <a:rPr lang="en-US" b="1" dirty="0" err="1"/>
              <a:t>Vetmeduni</a:t>
            </a:r>
            <a:r>
              <a:rPr lang="en-US" b="1" dirty="0"/>
              <a:t> Wien</a:t>
            </a:r>
            <a:r>
              <a:rPr lang="en-US" dirty="0"/>
              <a:t> and data analyst at </a:t>
            </a:r>
            <a:r>
              <a:rPr lang="en-US" b="1" dirty="0" err="1"/>
              <a:t>a:head</a:t>
            </a:r>
            <a:r>
              <a:rPr lang="en-US" b="1" dirty="0"/>
              <a:t> Bio</a:t>
            </a:r>
            <a:r>
              <a:rPr lang="en-US" dirty="0"/>
              <a:t> with &gt;10 years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Experience in biological signal processing, microscopy image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Developer of R/</a:t>
            </a:r>
            <a:r>
              <a:rPr lang="en-US" dirty="0" err="1"/>
              <a:t>Streamlit</a:t>
            </a:r>
            <a:r>
              <a:rPr lang="en-US" dirty="0"/>
              <a:t> applications for biological data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Passionate about transforming complex datasets into clear, interpretable, publication-ready insights</a:t>
            </a:r>
          </a:p>
          <a:p>
            <a:endParaRPr lang="en-US" sz="2400" b="1" dirty="0"/>
          </a:p>
          <a:p>
            <a:r>
              <a:rPr lang="en-US" sz="2400" b="1" dirty="0"/>
              <a:t>My research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Genomics of bacterial, viral, and protozoan pathogens in veterinary medicine, focusing on evolution, virulence factors, antimicrobial resistance, and outbreak characterization using 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Development of pipelines and apps to extract and analyze functional and morphological metrics from brain-organoid activity data</a:t>
            </a:r>
          </a:p>
        </p:txBody>
      </p:sp>
    </p:spTree>
    <p:extLst>
      <p:ext uri="{BB962C8B-B14F-4D97-AF65-F5344CB8AC3E}">
        <p14:creationId xmlns:p14="http://schemas.microsoft.com/office/powerpoint/2010/main" val="385055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5528" y="210312"/>
            <a:ext cx="77724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1E3246"/>
                </a:solidFill>
              </a:defRPr>
            </a:pP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Table Analyzer</a:t>
            </a:r>
            <a:endParaRPr dirty="0"/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dirty="0"/>
              <a:t>• Lightweight R Shiny app for analyzing tabular datasets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dirty="0"/>
              <a:t>• Generates publication-ready tables and plots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dirty="0"/>
              <a:t>• Designed for clarity, reproducibility, and speed</a:t>
            </a:r>
            <a:endParaRPr lang="de-DE" dirty="0"/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US" dirty="0"/>
              <a:t>• Based on a modern, model-based statistical framework (ANOVA, LM, LMM)</a:t>
            </a:r>
            <a:endParaRPr dirty="0"/>
          </a:p>
          <a:p>
            <a:pPr>
              <a:defRPr sz="2400" b="1">
                <a:solidFill>
                  <a:srgbClr val="1E3246"/>
                </a:solidFill>
              </a:defRPr>
            </a:pPr>
            <a:r>
              <a:rPr dirty="0"/>
              <a:t>What it can do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dirty="0"/>
              <a:t>• Seven analysis modules: Descriptive Statistics, One-way ANOVA, Two-way ANOVA, LM, LMM, Pairwise Correlation, PCA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dirty="0"/>
              <a:t>• Download publication-formatted tables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dirty="0"/>
              <a:t>• Export plots at 300 dpi (PNG)</a:t>
            </a:r>
          </a:p>
          <a:p>
            <a:pPr>
              <a:defRPr sz="2400" b="1">
                <a:solidFill>
                  <a:srgbClr val="1E3246"/>
                </a:solidFill>
              </a:defRPr>
            </a:pPr>
            <a:r>
              <a:rPr dirty="0"/>
              <a:t>What it is not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dirty="0"/>
              <a:t>• Not a replacement for Excel, GraphPad Prism, or SPSS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dirty="0"/>
              <a:t>• Not intended for data editing or spreadsheet management</a:t>
            </a:r>
          </a:p>
          <a:p>
            <a:pPr>
              <a:defRPr sz="2400" b="1">
                <a:solidFill>
                  <a:srgbClr val="1E3246"/>
                </a:solidFill>
              </a:defRPr>
            </a:pPr>
            <a:r>
              <a:rPr dirty="0"/>
              <a:t>Why it speeds up analysis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dirty="0"/>
              <a:t>• Multiple responses in parallel: run the same model across several outcomes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dirty="0"/>
              <a:t>• Stratification: fit models within groups (batch, treatment, animal group)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dirty="0"/>
              <a:t>• Plots adapt automatically to both multiple responses and stratification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92F7B-3EF3-7FC5-E2A3-395E2B863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5750A-75E2-B0E3-2EF7-A0941E209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DESCRIPTIVE STATISTICS</a:t>
            </a:r>
          </a:p>
        </p:txBody>
      </p:sp>
    </p:spTree>
    <p:extLst>
      <p:ext uri="{BB962C8B-B14F-4D97-AF65-F5344CB8AC3E}">
        <p14:creationId xmlns:p14="http://schemas.microsoft.com/office/powerpoint/2010/main" val="3562210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CEDA3D-D375-7049-2BD7-362BEBF2D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38200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029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7561EF-BC14-FB89-F5EC-1A4679BB08EE}"/>
              </a:ext>
            </a:extLst>
          </p:cNvPr>
          <p:cNvSpPr txBox="1"/>
          <p:nvPr/>
        </p:nvSpPr>
        <p:spPr>
          <a:xfrm>
            <a:off x="105103" y="181957"/>
            <a:ext cx="9301655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🐔 What the Different Statistical Distributions Mean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Normal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Classic “bell-shaped” pattern.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Most animals cluster around an average value.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Good for traits with natural biological symmetry (e.g., body weight in a uniform flock).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Log-normal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Always positive, with a long tail to the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Many animals have low values, few animals have very high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Typical for hormone levels, parasites, and any measurement that multiplies rather than adds.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Gamma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Positive-only, skewed to the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Suited for measurements that cannot go below zero and vary a lot.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Common for time-to-event data, inflammation markers, or enzyme activities.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Weibull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Flexible shape; can model early risk or late risk.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Widely used in survival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Good for time until disease, time until failure, or longevity studies.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Exponential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Memoryless “time-to-event”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Describes processes where the chance of an event is constant over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Useful for modeling infection waiting times or time until the next occurrence.</a:t>
            </a:r>
          </a:p>
        </p:txBody>
      </p:sp>
    </p:spTree>
    <p:extLst>
      <p:ext uri="{BB962C8B-B14F-4D97-AF65-F5344CB8AC3E}">
        <p14:creationId xmlns:p14="http://schemas.microsoft.com/office/powerpoint/2010/main" val="2519704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48000-8DB4-EFA8-B151-AF1410B42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LMM</a:t>
            </a:r>
          </a:p>
        </p:txBody>
      </p:sp>
    </p:spTree>
    <p:extLst>
      <p:ext uri="{BB962C8B-B14F-4D97-AF65-F5344CB8AC3E}">
        <p14:creationId xmlns:p14="http://schemas.microsoft.com/office/powerpoint/2010/main" val="34699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4EEA22-109C-8598-D181-3B420FE4ECED}"/>
              </a:ext>
            </a:extLst>
          </p:cNvPr>
          <p:cNvSpPr txBox="1"/>
          <p:nvPr/>
        </p:nvSpPr>
        <p:spPr>
          <a:xfrm>
            <a:off x="635876" y="117693"/>
            <a:ext cx="801939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🐔 Random Effects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What they represent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They capture </a:t>
            </a:r>
            <a:r>
              <a:rPr lang="en-US" b="1" dirty="0"/>
              <a:t>natural differences between individual animals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Every chicken has its own baseline weight or behavior.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Random effects allow the model to </a:t>
            </a:r>
            <a:r>
              <a:rPr lang="en-US" b="1" dirty="0"/>
              <a:t>give each animal its own starting level</a:t>
            </a:r>
            <a:r>
              <a:rPr lang="en-US" dirty="0"/>
              <a:t>, instead of forcing all animals to be identical.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Why we need them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Animals in the same treatment group are </a:t>
            </a:r>
            <a:r>
              <a:rPr lang="en-US" i="1" dirty="0"/>
              <a:t>not</a:t>
            </a:r>
            <a:r>
              <a:rPr lang="en-US" dirty="0"/>
              <a:t> clones.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Some chickens naturally grow faster or slower, regardless of treatment.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Ignoring these differences makes the analysis less accurate, more biased and too optimistic about significance.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What the model does with them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The model estimates how much animals </a:t>
            </a:r>
            <a:r>
              <a:rPr lang="en-US" b="1" dirty="0"/>
              <a:t>differ from each other on average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It adjusts treatment effects so they are not inflated by animal-to-animal variation.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The random effect acts like a </a:t>
            </a:r>
            <a:r>
              <a:rPr lang="en-US" b="1" dirty="0"/>
              <a:t>baseline correction</a:t>
            </a:r>
            <a:r>
              <a:rPr lang="en-US" dirty="0"/>
              <a:t> for each individual animal.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Veterinary practice interpretation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If random-effect variance is large:</a:t>
            </a:r>
            <a:br>
              <a:rPr lang="en-US" dirty="0"/>
            </a:br>
            <a:r>
              <a:rPr lang="en-US" dirty="0"/>
              <a:t> → animals in the trial vary a lot biologically.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If it's small:</a:t>
            </a:r>
            <a:br>
              <a:rPr lang="en-US" dirty="0"/>
            </a:br>
            <a:r>
              <a:rPr lang="en-US" dirty="0"/>
              <a:t> → animals behave very similarly; group differences dominate.</a:t>
            </a:r>
          </a:p>
        </p:txBody>
      </p:sp>
    </p:spTree>
    <p:extLst>
      <p:ext uri="{BB962C8B-B14F-4D97-AF65-F5344CB8AC3E}">
        <p14:creationId xmlns:p14="http://schemas.microsoft.com/office/powerpoint/2010/main" val="2723014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C47E32-1372-DB94-ECDF-E801FEE80F01}"/>
              </a:ext>
            </a:extLst>
          </p:cNvPr>
          <p:cNvSpPr txBox="1"/>
          <p:nvPr/>
        </p:nvSpPr>
        <p:spPr>
          <a:xfrm>
            <a:off x="273269" y="181957"/>
            <a:ext cx="887073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🐔 Intraclass Correlation Coefficient (ICC)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What ICC measures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ICC tells you </a:t>
            </a:r>
            <a:r>
              <a:rPr lang="en-US" b="1" dirty="0"/>
              <a:t>how much of the total variability comes from real biological differences between animals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It is the </a:t>
            </a:r>
            <a:r>
              <a:rPr lang="en-US" b="1" dirty="0"/>
              <a:t>proportion of variance explained by the animal itself</a:t>
            </a:r>
            <a:r>
              <a:rPr lang="en-US" dirty="0"/>
              <a:t>, not by treatment or random noise.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How to read ICC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ICC ≈ 0.00–0.10 → low animal individuality</a:t>
            </a:r>
            <a:br>
              <a:rPr lang="en-US" dirty="0"/>
            </a:br>
            <a:r>
              <a:rPr lang="en-US" dirty="0"/>
              <a:t>Animals behave similarly; treatment or noise dominates.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ICC ≈ 0.20–0.40 → moderate individuality</a:t>
            </a:r>
            <a:br>
              <a:rPr lang="en-US" dirty="0"/>
            </a:br>
            <a:r>
              <a:rPr lang="en-US" dirty="0"/>
              <a:t>Animals have meaningful biological differences.</a:t>
            </a:r>
            <a:br>
              <a:rPr lang="en-US" dirty="0"/>
            </a:br>
            <a:r>
              <a:rPr lang="en-US" dirty="0"/>
              <a:t>This is typical in growth, behavior, physiology.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ICC &gt; 0.40 → strong individuality</a:t>
            </a:r>
            <a:br>
              <a:rPr lang="en-US" dirty="0"/>
            </a:br>
            <a:r>
              <a:rPr lang="en-US" dirty="0"/>
              <a:t>Each animal is quite different, and repeated measurements cluster tightly within each animal.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What ICC means in practice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High ICC means repeated measurements from the same animal are </a:t>
            </a:r>
            <a:r>
              <a:rPr lang="en-US" b="1" dirty="0"/>
              <a:t>more similar to each other</a:t>
            </a:r>
            <a:r>
              <a:rPr lang="en-US" dirty="0"/>
              <a:t> than to measurements from other animals.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Low ICC means each animal behaves </a:t>
            </a:r>
            <a:r>
              <a:rPr lang="en-US" b="1" dirty="0"/>
              <a:t>more like the group</a:t>
            </a:r>
            <a:r>
              <a:rPr lang="en-US" dirty="0"/>
              <a:t>, with weak individuality.</a:t>
            </a:r>
          </a:p>
        </p:txBody>
      </p:sp>
    </p:spTree>
    <p:extLst>
      <p:ext uri="{BB962C8B-B14F-4D97-AF65-F5344CB8AC3E}">
        <p14:creationId xmlns:p14="http://schemas.microsoft.com/office/powerpoint/2010/main" val="2770030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2C693-2DDA-4516-F114-168172E1F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E04D5-C666-B927-1436-9983B752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PCA</a:t>
            </a:r>
          </a:p>
        </p:txBody>
      </p:sp>
    </p:spTree>
    <p:extLst>
      <p:ext uri="{BB962C8B-B14F-4D97-AF65-F5344CB8AC3E}">
        <p14:creationId xmlns:p14="http://schemas.microsoft.com/office/powerpoint/2010/main" val="1646739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961D4-A409-0CCA-2366-A2A339784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BBF7E7-4397-9A8E-5361-4241BE9843B7}"/>
              </a:ext>
            </a:extLst>
          </p:cNvPr>
          <p:cNvSpPr txBox="1"/>
          <p:nvPr/>
        </p:nvSpPr>
        <p:spPr>
          <a:xfrm>
            <a:off x="204952" y="612844"/>
            <a:ext cx="770933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🐔 How to Interpret PCA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A610C-E699-6D0E-4A74-F14E40BF6778}"/>
              </a:ext>
            </a:extLst>
          </p:cNvPr>
          <p:cNvSpPr txBox="1"/>
          <p:nvPr/>
        </p:nvSpPr>
        <p:spPr>
          <a:xfrm>
            <a:off x="357351" y="1661747"/>
            <a:ext cx="44406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── PCA Summary ──</a:t>
            </a:r>
          </a:p>
          <a:p>
            <a:pPr algn="l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Importance of components:</a:t>
            </a:r>
          </a:p>
          <a:p>
            <a:pPr algn="l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                         PC1    PC2    PC3    PC4     PC5     PC6</a:t>
            </a:r>
          </a:p>
          <a:p>
            <a:pPr algn="l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Standard deviation     1.4475 1.1806 0.9907 0.7925 0.69433 0.64737</a:t>
            </a:r>
          </a:p>
          <a:p>
            <a:pPr algn="l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Proportion of Variance 0.3492 0.2323 0.1636 0.1047 0.08035 0.06985</a:t>
            </a:r>
          </a:p>
          <a:p>
            <a:pPr algn="l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Cumulative Proportion  0.3492 0.5815 0.7451 0.8498 0.93015 1.00000</a:t>
            </a:r>
          </a:p>
          <a:p>
            <a:pPr algn="l">
              <a:buNone/>
            </a:pPr>
            <a:endParaRPr lang="en-US" sz="800" b="0" i="0" dirty="0">
              <a:solidFill>
                <a:srgbClr val="000000"/>
              </a:solidFill>
              <a:effectLst/>
              <a:latin typeface="Fira Mono" panose="020B0509050000020004" pitchFamily="49" charset="0"/>
            </a:endParaRPr>
          </a:p>
          <a:p>
            <a:pPr algn="l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── PCA Loadings (rotation matrix) ──</a:t>
            </a:r>
          </a:p>
          <a:p>
            <a:pPr algn="l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                  PC1    PC2    PC3    PC4    PC5    PC6</a:t>
            </a:r>
          </a:p>
          <a:p>
            <a:pPr algn="l">
              <a:buNone/>
            </a:pPr>
            <a:r>
              <a:rPr lang="en-US" sz="800" b="0" i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Weight_baseline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-0.062 -0.227 -0.965  0.046  0.001  0.106</a:t>
            </a:r>
          </a:p>
          <a:p>
            <a:pPr algn="l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Cortisol        -0.587  0.034 -0.057  0.035 -0.013 -0.806</a:t>
            </a:r>
          </a:p>
          <a:p>
            <a:pPr algn="l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Glucose         -0.482 -0.388  0.159  0.048  0.701  0.314</a:t>
            </a:r>
          </a:p>
          <a:p>
            <a:pPr algn="l">
              <a:buNone/>
            </a:pPr>
            <a:r>
              <a:rPr lang="en-US" sz="800" b="0" i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FeedIntake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      0.172 -0.662  0.092 -0.685 -0.138 -0.187</a:t>
            </a:r>
          </a:p>
          <a:p>
            <a:pPr algn="l">
              <a:buNone/>
            </a:pPr>
            <a:r>
              <a:rPr lang="en-US" sz="800" b="0" i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HeartRate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       0.296 -0.570  0.125  0.719 -0.093 -0.216</a:t>
            </a:r>
          </a:p>
          <a:p>
            <a:pPr algn="l">
              <a:buNone/>
            </a:pPr>
            <a:r>
              <a:rPr lang="en-US" sz="800" b="0" i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BodyTemp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       -0.550 -0.185  0.126  0.088 -0.693  0.399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219FDC-BED7-E0F8-0107-163E3A20E6FD}"/>
              </a:ext>
            </a:extLst>
          </p:cNvPr>
          <p:cNvSpPr txBox="1"/>
          <p:nvPr/>
        </p:nvSpPr>
        <p:spPr>
          <a:xfrm>
            <a:off x="4703380" y="1074509"/>
            <a:ext cx="4572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Standard deviations (PC strength)</a:t>
            </a:r>
          </a:p>
          <a:p>
            <a:r>
              <a:rPr lang="en-US" dirty="0"/>
              <a:t>Each principal component has a </a:t>
            </a:r>
            <a:r>
              <a:rPr lang="en-US" b="1" dirty="0"/>
              <a:t>standard deviation</a:t>
            </a:r>
            <a:r>
              <a:rPr lang="en-US" dirty="0"/>
              <a:t> showing how widely animals spread along that axis.</a:t>
            </a:r>
          </a:p>
          <a:p>
            <a:r>
              <a:rPr lang="en-US" b="1" dirty="0"/>
              <a:t>Bigger SD = more biological variation captured.</a:t>
            </a:r>
            <a:endParaRPr lang="en-US" dirty="0"/>
          </a:p>
          <a:p>
            <a:pPr lvl="1"/>
            <a:r>
              <a:rPr lang="en-US" dirty="0"/>
              <a:t>PC1 SD = </a:t>
            </a:r>
            <a:r>
              <a:rPr lang="en-US" b="1" dirty="0"/>
              <a:t>1.45</a:t>
            </a:r>
            <a:r>
              <a:rPr lang="en-US" dirty="0"/>
              <a:t> → strongest pattern</a:t>
            </a:r>
          </a:p>
          <a:p>
            <a:pPr lvl="1"/>
            <a:r>
              <a:rPr lang="en-US" dirty="0"/>
              <a:t>PC2 SD = </a:t>
            </a:r>
            <a:r>
              <a:rPr lang="en-US" b="1" dirty="0"/>
              <a:t>1.18</a:t>
            </a:r>
            <a:endParaRPr lang="en-US" dirty="0"/>
          </a:p>
          <a:p>
            <a:pPr lvl="1"/>
            <a:r>
              <a:rPr lang="en-US" dirty="0"/>
              <a:t>PC3 SD = </a:t>
            </a:r>
            <a:r>
              <a:rPr lang="en-US" b="1" dirty="0"/>
              <a:t>0.99</a:t>
            </a:r>
          </a:p>
          <a:p>
            <a:pPr lvl="1"/>
            <a:endParaRPr lang="en-US" dirty="0"/>
          </a:p>
          <a:p>
            <a:r>
              <a:rPr lang="en-US" b="1" dirty="0"/>
              <a:t>2. Proportion of variance (importance)</a:t>
            </a:r>
          </a:p>
          <a:p>
            <a:r>
              <a:rPr lang="en-US" dirty="0"/>
              <a:t>Tells how much of the entire dataset each PC explains.</a:t>
            </a:r>
          </a:p>
          <a:p>
            <a:r>
              <a:rPr lang="en-US" b="1" dirty="0"/>
              <a:t>PC1 = 35%</a:t>
            </a:r>
            <a:r>
              <a:rPr lang="en-US" dirty="0"/>
              <a:t>, </a:t>
            </a:r>
            <a:r>
              <a:rPr lang="en-US" b="1" dirty="0"/>
              <a:t>PC2 = 23%</a:t>
            </a:r>
            <a:r>
              <a:rPr lang="en-US" dirty="0"/>
              <a:t>, </a:t>
            </a:r>
            <a:r>
              <a:rPr lang="en-US" b="1" dirty="0"/>
              <a:t>PC3 = 16%</a:t>
            </a:r>
            <a:endParaRPr lang="en-US" dirty="0"/>
          </a:p>
          <a:p>
            <a:r>
              <a:rPr lang="en-US" dirty="0"/>
              <a:t>PC1 + PC2 = </a:t>
            </a:r>
            <a:r>
              <a:rPr lang="en-US" b="1" dirty="0"/>
              <a:t>58%</a:t>
            </a:r>
            <a:r>
              <a:rPr lang="en-US" dirty="0"/>
              <a:t> → more than half of all differences between animals.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3B9A57-5078-437C-207C-D3D33CE7D652}"/>
              </a:ext>
            </a:extLst>
          </p:cNvPr>
          <p:cNvSpPr txBox="1"/>
          <p:nvPr/>
        </p:nvSpPr>
        <p:spPr>
          <a:xfrm>
            <a:off x="270642" y="4465482"/>
            <a:ext cx="46140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Loadings (what each PC represents biologically)</a:t>
            </a:r>
          </a:p>
          <a:p>
            <a:r>
              <a:rPr lang="en-US" dirty="0"/>
              <a:t>Loadings show </a:t>
            </a:r>
            <a:r>
              <a:rPr lang="en-US" b="1" dirty="0"/>
              <a:t>how each original measurement contributes</a:t>
            </a:r>
            <a:r>
              <a:rPr lang="en-US" dirty="0"/>
              <a:t> to a PC.</a:t>
            </a:r>
          </a:p>
          <a:p>
            <a:r>
              <a:rPr lang="en-US" b="1" dirty="0"/>
              <a:t>Large absolute values</a:t>
            </a:r>
            <a:r>
              <a:rPr lang="en-US" dirty="0"/>
              <a:t> = strong influence.</a:t>
            </a:r>
          </a:p>
          <a:p>
            <a:r>
              <a:rPr lang="en-US" b="1" dirty="0"/>
              <a:t>Same sign</a:t>
            </a:r>
            <a:r>
              <a:rPr lang="en-US" dirty="0"/>
              <a:t> = variables increase together; </a:t>
            </a:r>
            <a:r>
              <a:rPr lang="en-US" b="1" dirty="0"/>
              <a:t>opposite sign</a:t>
            </a:r>
            <a:r>
              <a:rPr lang="en-US" dirty="0"/>
              <a:t> = move in opposite directions.</a:t>
            </a:r>
          </a:p>
        </p:txBody>
      </p:sp>
    </p:spTree>
    <p:extLst>
      <p:ext uri="{BB962C8B-B14F-4D97-AF65-F5344CB8AC3E}">
        <p14:creationId xmlns:p14="http://schemas.microsoft.com/office/powerpoint/2010/main" val="2548628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</TotalTime>
  <Words>1096</Words>
  <Application>Microsoft Macintosh PowerPoint</Application>
  <PresentationFormat>On-screen Show (4:3)</PresentationFormat>
  <Paragraphs>137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Fira Mono</vt:lpstr>
      <vt:lpstr>Office Theme</vt:lpstr>
      <vt:lpstr>PowerPoint Presentation</vt:lpstr>
      <vt:lpstr>PowerPoint Presentation</vt:lpstr>
      <vt:lpstr>PowerPoint Presentation</vt:lpstr>
      <vt:lpstr>NOTES on DESCRIPTIVE STATISTICS</vt:lpstr>
      <vt:lpstr>PowerPoint Presentation</vt:lpstr>
      <vt:lpstr>PowerPoint Presentation</vt:lpstr>
      <vt:lpstr>NOTES on LMM</vt:lpstr>
      <vt:lpstr>PowerPoint Presentation</vt:lpstr>
      <vt:lpstr>PowerPoint Presentation</vt:lpstr>
      <vt:lpstr>NOTES on PCA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Palmieri Nicola</cp:lastModifiedBy>
  <cp:revision>26</cp:revision>
  <dcterms:created xsi:type="dcterms:W3CDTF">2013-01-27T09:14:16Z</dcterms:created>
  <dcterms:modified xsi:type="dcterms:W3CDTF">2025-11-25T13:45:30Z</dcterms:modified>
  <cp:category/>
</cp:coreProperties>
</file>