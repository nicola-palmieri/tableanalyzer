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8" r:id="rId3"/>
    <p:sldId id="257" r:id="rId4"/>
    <p:sldId id="270" r:id="rId5"/>
    <p:sldId id="271" r:id="rId6"/>
    <p:sldId id="266" r:id="rId7"/>
    <p:sldId id="268" r:id="rId8"/>
    <p:sldId id="269" r:id="rId9"/>
    <p:sldId id="274" r:id="rId10"/>
    <p:sldId id="275" r:id="rId11"/>
    <p:sldId id="272" r:id="rId12"/>
    <p:sldId id="273" r:id="rId13"/>
    <p:sldId id="262" r:id="rId14"/>
    <p:sldId id="259" r:id="rId15"/>
    <p:sldId id="260" r:id="rId16"/>
    <p:sldId id="263" r:id="rId17"/>
    <p:sldId id="265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43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688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4C4D2F-30A8-1C43-8374-9D9D8BF63153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911241-7DC5-2249-8C77-6E6B4E4621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16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911241-7DC5-2249-8C77-6E6B4E46212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7326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0F7FF"/>
            </a:gs>
            <a:gs pos="100000">
              <a:srgbClr val="DCECFA"/>
            </a:gs>
          </a:gsLst>
          <a:lin ang="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nicola-palmieri.shinyapps.io/tableanalyzer/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icola-palmieri/TableAnalyzer" TargetMode="External"/><Relationship Id="rId2" Type="http://schemas.openxmlformats.org/officeDocument/2006/relationships/hyperlink" Target="https://posit.co/download/rstudio-desktop" TargetMode="Externa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 algn="ctr">
              <a:defRPr sz="5400" b="1">
                <a:solidFill>
                  <a:srgbClr val="1E3246"/>
                </a:solidFill>
              </a:defRPr>
            </a:pPr>
            <a:r>
              <a:rPr dirty="0"/>
              <a:t>Table Analyzer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2980" y="3657600"/>
            <a:ext cx="717804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dirty="0"/>
          </a:p>
          <a:p>
            <a:pPr algn="ctr">
              <a:defRPr sz="2400">
                <a:solidFill>
                  <a:srgbClr val="2C76BC"/>
                </a:solidFill>
              </a:defRPr>
            </a:pPr>
            <a:r>
              <a:rPr lang="en-GB" dirty="0"/>
              <a:t>Turn you tabular data into publication-ready </a:t>
            </a:r>
          </a:p>
          <a:p>
            <a:pPr algn="ctr">
              <a:defRPr sz="2400">
                <a:solidFill>
                  <a:srgbClr val="2C76BC"/>
                </a:solidFill>
              </a:defRPr>
            </a:pPr>
            <a:r>
              <a:rPr lang="en-GB" dirty="0"/>
              <a:t>summary tables and plots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 algn="ctr">
              <a:defRPr sz="1400">
                <a:solidFill>
                  <a:srgbClr val="1E3246"/>
                </a:solidFill>
              </a:defRPr>
            </a:pPr>
            <a:r>
              <a:t>Developed by Nicola Palmieri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A21E52-2E15-6104-6319-CEFB0A6D0FBB}"/>
              </a:ext>
            </a:extLst>
          </p:cNvPr>
          <p:cNvSpPr txBox="1"/>
          <p:nvPr/>
        </p:nvSpPr>
        <p:spPr>
          <a:xfrm>
            <a:off x="3951890" y="5160579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01.12.2025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EE6ADB-DAF4-0B29-7460-62CEEA33A01A}"/>
              </a:ext>
            </a:extLst>
          </p:cNvPr>
          <p:cNvSpPr txBox="1"/>
          <p:nvPr/>
        </p:nvSpPr>
        <p:spPr>
          <a:xfrm>
            <a:off x="1635947" y="3342289"/>
            <a:ext cx="71043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3C3C3C"/>
                </a:solidFill>
              </a:defRPr>
            </a:pPr>
            <a:r>
              <a:rPr lang="de-DE" dirty="0">
                <a:solidFill>
                  <a:srgbClr val="7030A0"/>
                </a:solidFill>
                <a:hlinkClick r:id="rId2"/>
              </a:rPr>
              <a:t>https://nicola-palmieri.shinyapps.io/tableanalyzer/</a:t>
            </a:r>
            <a:endParaRPr lang="de-DE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BC87B-D5FA-3788-37B7-B5FF88A24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34A4BA-C93F-F175-CB79-50A8F3032521}"/>
              </a:ext>
            </a:extLst>
          </p:cNvPr>
          <p:cNvSpPr txBox="1"/>
          <p:nvPr/>
        </p:nvSpPr>
        <p:spPr>
          <a:xfrm>
            <a:off x="858591" y="612844"/>
            <a:ext cx="77724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Who am 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Bioinformatician specialized in microbial genomics, neuroinformatics, and high-throughput data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Researcher at </a:t>
            </a:r>
            <a:r>
              <a:rPr lang="en-US" b="1" dirty="0" err="1"/>
              <a:t>Vetmeduni</a:t>
            </a:r>
            <a:r>
              <a:rPr lang="en-US" b="1" dirty="0"/>
              <a:t> Wien</a:t>
            </a:r>
            <a:r>
              <a:rPr lang="en-US" dirty="0"/>
              <a:t> and data analyst at </a:t>
            </a:r>
            <a:r>
              <a:rPr lang="en-US" b="1" dirty="0" err="1"/>
              <a:t>a:head</a:t>
            </a:r>
            <a:r>
              <a:rPr lang="en-US" b="1" dirty="0"/>
              <a:t> Bio</a:t>
            </a:r>
            <a:r>
              <a:rPr lang="en-US" dirty="0"/>
              <a:t> with &gt;10 years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Experience with omics datasets, biological signal processing, microscopy image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Developer of R/</a:t>
            </a:r>
            <a:r>
              <a:rPr lang="en-US" dirty="0" err="1"/>
              <a:t>Streamlit</a:t>
            </a:r>
            <a:r>
              <a:rPr lang="en-US" dirty="0"/>
              <a:t> applications for biological data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Passionate about transforming complex datasets into clear, interpretable, publication-ready insights</a:t>
            </a:r>
          </a:p>
          <a:p>
            <a:endParaRPr lang="en-US" sz="2400" b="1" dirty="0"/>
          </a:p>
          <a:p>
            <a:r>
              <a:rPr lang="en-US" sz="2400" b="1" dirty="0"/>
              <a:t>My research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Genomics of bacterial, viral, and protozoan pathogens in veterinary medicine, focusing on evolution, virulence factors, antimicrobial resistance, and outbreak characterization using NGS.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Development of pipelines and apps to extract and analyze functional and morphological metrics from brain-organoid activity data</a:t>
            </a:r>
          </a:p>
        </p:txBody>
      </p:sp>
    </p:spTree>
    <p:extLst>
      <p:ext uri="{BB962C8B-B14F-4D97-AF65-F5344CB8AC3E}">
        <p14:creationId xmlns:p14="http://schemas.microsoft.com/office/powerpoint/2010/main" val="385055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95528" y="210312"/>
            <a:ext cx="7772400" cy="57246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Table Analyzer</a:t>
            </a:r>
            <a:endParaRPr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Lightweight R Shiny app for analyzing tabular datasets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Generates publication-ready tables and plots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Designed for clarity, reproducibility, and speed</a:t>
            </a:r>
            <a:endParaRPr lang="de-DE"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lang="en-US" dirty="0"/>
              <a:t>• Based on a modern, model-based statistical framework (ANOVA, LM, LMM)</a:t>
            </a:r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What it can do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Seven analysis modules: Descriptive Statistics, One-way ANOVA, Two-way ANOVA, LM, LMM, Pairwise Correlation, PCA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Download publication-formatted tables</a:t>
            </a:r>
            <a:r>
              <a:rPr lang="de-DE" dirty="0"/>
              <a:t> and </a:t>
            </a:r>
            <a:r>
              <a:rPr lang="de-DE" dirty="0" err="1"/>
              <a:t>plots</a:t>
            </a:r>
            <a:r>
              <a:rPr lang="de-DE" dirty="0"/>
              <a:t> at 300 dpi (PNG)</a:t>
            </a:r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What it is not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Not a replacement for Excel, GraphPad Prism, or SPSS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Not intended for data editing or spreadsheet management</a:t>
            </a:r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Why </a:t>
            </a:r>
            <a:r>
              <a:rPr lang="de-DE" dirty="0" err="1"/>
              <a:t>should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it</a:t>
            </a:r>
            <a:endParaRPr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Multiple responses in parallel: run the same model across several outcomes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Stratification: fit models within groups (batch, treatment, animal group)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</a:t>
            </a:r>
            <a:r>
              <a:rPr lang="de-DE" dirty="0"/>
              <a:t>Create </a:t>
            </a:r>
            <a:r>
              <a:rPr lang="de-DE" dirty="0" err="1"/>
              <a:t>publication-ready</a:t>
            </a:r>
            <a:r>
              <a:rPr lang="de-DE" dirty="0"/>
              <a:t> </a:t>
            </a:r>
            <a:r>
              <a:rPr lang="de-DE" dirty="0" err="1"/>
              <a:t>plots</a:t>
            </a:r>
            <a:r>
              <a:rPr lang="de-DE" dirty="0"/>
              <a:t> and </a:t>
            </a:r>
            <a:r>
              <a:rPr lang="de-DE" dirty="0" err="1"/>
              <a:t>tables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minimal </a:t>
            </a:r>
            <a:r>
              <a:rPr lang="de-DE" dirty="0" err="1"/>
              <a:t>effort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DAF58-959A-49C5-E6FC-57E1D8A69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0F4E41-0A25-B1DA-BC47-2283EE43DF45}"/>
              </a:ext>
            </a:extLst>
          </p:cNvPr>
          <p:cNvSpPr txBox="1"/>
          <p:nvPr/>
        </p:nvSpPr>
        <p:spPr>
          <a:xfrm>
            <a:off x="795528" y="210312"/>
            <a:ext cx="7772400" cy="49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sz="2400" b="1" dirty="0">
                <a:solidFill>
                  <a:srgbClr val="1E3246"/>
                </a:solidFill>
              </a:rPr>
              <a:t>How </a:t>
            </a:r>
            <a:r>
              <a:rPr lang="de-DE" sz="2400" b="1" dirty="0" err="1">
                <a:solidFill>
                  <a:srgbClr val="1E3246"/>
                </a:solidFill>
              </a:rPr>
              <a:t>to</a:t>
            </a:r>
            <a:r>
              <a:rPr lang="de-DE" sz="2400" b="1" dirty="0">
                <a:solidFill>
                  <a:srgbClr val="1E3246"/>
                </a:solidFill>
              </a:rPr>
              <a:t> </a:t>
            </a:r>
            <a:r>
              <a:rPr lang="de-DE" sz="2400" b="1" dirty="0" err="1">
                <a:solidFill>
                  <a:srgbClr val="1E3246"/>
                </a:solidFill>
              </a:rPr>
              <a:t>install</a:t>
            </a:r>
            <a:r>
              <a:rPr lang="de-DE" sz="2400" b="1" dirty="0">
                <a:solidFill>
                  <a:srgbClr val="1E3246"/>
                </a:solidFill>
              </a:rPr>
              <a:t> Table Analyzer (1)</a:t>
            </a:r>
          </a:p>
          <a:p>
            <a:endParaRPr lang="en-US" b="1" dirty="0"/>
          </a:p>
          <a:p>
            <a:pPr marL="342900" indent="-342900">
              <a:buAutoNum type="arabicPeriod"/>
            </a:pPr>
            <a:r>
              <a:rPr lang="en-US" sz="2000" b="1" dirty="0"/>
              <a:t>Install 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Go to: </a:t>
            </a:r>
            <a:r>
              <a:rPr lang="en-US" sz="2000" b="1" dirty="0"/>
              <a:t>https://</a:t>
            </a:r>
            <a:r>
              <a:rPr lang="en-US" sz="2000" b="1" dirty="0" err="1"/>
              <a:t>cran.r-project.org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Click your operating system (Windows / macOS / Linux)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Download and install </a:t>
            </a:r>
            <a:r>
              <a:rPr lang="en-US" sz="2000" b="1" dirty="0"/>
              <a:t>R</a:t>
            </a:r>
            <a:r>
              <a:rPr lang="en-US" sz="2000" dirty="0"/>
              <a:t> with the default settings</a:t>
            </a:r>
          </a:p>
          <a:p>
            <a:endParaRPr lang="en-US" sz="2000" b="1" dirty="0"/>
          </a:p>
          <a:p>
            <a:r>
              <a:rPr lang="en-US" sz="2000" b="1" dirty="0"/>
              <a:t>2. Install RStudio (the user-friendly interface)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Go to: </a:t>
            </a:r>
            <a:r>
              <a:rPr lang="en-US" sz="2000" b="1" dirty="0">
                <a:hlinkClick r:id="rId2"/>
              </a:rPr>
              <a:t>https://posit.co/download/rstudio-desktop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Download </a:t>
            </a:r>
            <a:r>
              <a:rPr lang="en-US" sz="2000" b="1" dirty="0"/>
              <a:t>RStudio Desktop (free version)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Install it with the default options</a:t>
            </a:r>
          </a:p>
          <a:p>
            <a:endParaRPr lang="en-US" sz="2000" b="1" dirty="0"/>
          </a:p>
          <a:p>
            <a:r>
              <a:rPr lang="en-US" sz="2000" b="1" dirty="0"/>
              <a:t>3. Download the app from </a:t>
            </a:r>
            <a:r>
              <a:rPr lang="en-US" sz="2000" b="1" dirty="0">
                <a:hlinkClick r:id="rId3"/>
              </a:rPr>
              <a:t>https://github.com/nicola-palmieri/TableAnalyzer</a:t>
            </a:r>
            <a:r>
              <a:rPr lang="en-US" sz="2000" b="1" dirty="0"/>
              <a:t> and extract the ZIP file</a:t>
            </a:r>
          </a:p>
          <a:p>
            <a:endParaRPr lang="en-US" b="1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239036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53BA1-B689-5A60-8362-AAF051E6E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2D040A-12EB-0E66-DC04-67189E074619}"/>
              </a:ext>
            </a:extLst>
          </p:cNvPr>
          <p:cNvSpPr txBox="1"/>
          <p:nvPr/>
        </p:nvSpPr>
        <p:spPr>
          <a:xfrm>
            <a:off x="795528" y="210312"/>
            <a:ext cx="77724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sz="2400" b="1" dirty="0">
                <a:solidFill>
                  <a:srgbClr val="1E3246"/>
                </a:solidFill>
              </a:rPr>
              <a:t>How </a:t>
            </a:r>
            <a:r>
              <a:rPr lang="de-DE" sz="2400" b="1" dirty="0" err="1">
                <a:solidFill>
                  <a:srgbClr val="1E3246"/>
                </a:solidFill>
              </a:rPr>
              <a:t>to</a:t>
            </a:r>
            <a:r>
              <a:rPr lang="de-DE" sz="2400" b="1" dirty="0">
                <a:solidFill>
                  <a:srgbClr val="1E3246"/>
                </a:solidFill>
              </a:rPr>
              <a:t> </a:t>
            </a:r>
            <a:r>
              <a:rPr lang="de-DE" sz="2400" b="1" dirty="0" err="1">
                <a:solidFill>
                  <a:srgbClr val="1E3246"/>
                </a:solidFill>
              </a:rPr>
              <a:t>install</a:t>
            </a:r>
            <a:r>
              <a:rPr lang="de-DE" sz="2400" b="1" dirty="0">
                <a:solidFill>
                  <a:srgbClr val="1E3246"/>
                </a:solidFill>
              </a:rPr>
              <a:t> Table Analyzer (2)</a:t>
            </a:r>
          </a:p>
          <a:p>
            <a:endParaRPr lang="en-US" b="1" dirty="0"/>
          </a:p>
          <a:p>
            <a:r>
              <a:rPr lang="en-US" sz="2000" b="1" dirty="0"/>
              <a:t>4. Open </a:t>
            </a:r>
            <a:r>
              <a:rPr lang="en-US" sz="2000" b="1" dirty="0" err="1"/>
              <a:t>Rstudio</a:t>
            </a:r>
            <a:endParaRPr lang="en-US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Go to File </a:t>
            </a:r>
            <a:r>
              <a:rPr lang="en-US" sz="2000" dirty="0">
                <a:sym typeface="Wingdings" pitchFamily="2" charset="2"/>
              </a:rPr>
              <a:t> New project  Existing directory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ym typeface="Wingdings" pitchFamily="2" charset="2"/>
              </a:rPr>
              <a:t>Set the app folder in the path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ym typeface="Wingdings" pitchFamily="2" charset="2"/>
              </a:rPr>
              <a:t>Install the app typing the following command in the console</a:t>
            </a:r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</a:defRPr>
            </a:pPr>
            <a:endParaRPr lang="de-DE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59EF92-E821-8EE0-B2AE-668B3448C902}"/>
              </a:ext>
            </a:extLst>
          </p:cNvPr>
          <p:cNvSpPr txBox="1"/>
          <p:nvPr/>
        </p:nvSpPr>
        <p:spPr>
          <a:xfrm>
            <a:off x="795528" y="2218356"/>
            <a:ext cx="854490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install.packages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(c(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 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bslib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dplyr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"DT",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emmeans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fitdistrplus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flextable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 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GGally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"ggplot2",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lmerTest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"officer", "patchwork",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 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readxl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"shiny",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skimr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tidyr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"zoo"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))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14B250-D01B-DFF1-A709-B695B282EF0F}"/>
              </a:ext>
            </a:extLst>
          </p:cNvPr>
          <p:cNvSpPr txBox="1"/>
          <p:nvPr/>
        </p:nvSpPr>
        <p:spPr>
          <a:xfrm>
            <a:off x="795528" y="3673470"/>
            <a:ext cx="77724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ym typeface="Wingdings" pitchFamily="2" charset="2"/>
              </a:rPr>
              <a:t>Run the app with the command</a:t>
            </a:r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</a:defRPr>
            </a:pPr>
            <a:endParaRPr lang="de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3E4D73-8C9B-3CEF-B3C3-70AFECF0104A}"/>
              </a:ext>
            </a:extLst>
          </p:cNvPr>
          <p:cNvSpPr txBox="1"/>
          <p:nvPr/>
        </p:nvSpPr>
        <p:spPr>
          <a:xfrm>
            <a:off x="795528" y="4226400"/>
            <a:ext cx="85449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shiny::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runApp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56127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92F7B-3EF3-7FC5-E2A3-395E2B863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5750A-75E2-B0E3-2EF7-A0941E209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DESCRIPTIVE STATISTICS</a:t>
            </a:r>
          </a:p>
        </p:txBody>
      </p:sp>
    </p:spTree>
    <p:extLst>
      <p:ext uri="{BB962C8B-B14F-4D97-AF65-F5344CB8AC3E}">
        <p14:creationId xmlns:p14="http://schemas.microsoft.com/office/powerpoint/2010/main" val="3562210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4CEDA3D-D375-7049-2BD7-362BEBF2D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838200"/>
            <a:ext cx="7772400" cy="518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71891F4-7442-C642-A4F9-E1D264E8EFA4}"/>
              </a:ext>
            </a:extLst>
          </p:cNvPr>
          <p:cNvSpPr txBox="1"/>
          <p:nvPr/>
        </p:nvSpPr>
        <p:spPr>
          <a:xfrm>
            <a:off x="685800" y="241002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Examples for different data distributions</a:t>
            </a:r>
          </a:p>
        </p:txBody>
      </p:sp>
    </p:spTree>
    <p:extLst>
      <p:ext uri="{BB962C8B-B14F-4D97-AF65-F5344CB8AC3E}">
        <p14:creationId xmlns:p14="http://schemas.microsoft.com/office/powerpoint/2010/main" val="8490292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7561EF-BC14-FB89-F5EC-1A4679BB08EE}"/>
              </a:ext>
            </a:extLst>
          </p:cNvPr>
          <p:cNvSpPr txBox="1"/>
          <p:nvPr/>
        </p:nvSpPr>
        <p:spPr>
          <a:xfrm>
            <a:off x="105103" y="181957"/>
            <a:ext cx="9301655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 dirty="0"/>
              <a:t>🐔 What the Different Statistical Distributions Mean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Normal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Classic “bell-shaped” pattern.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Most animals cluster around an average value.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Good for traits with natural biological symmetry (e.g., body weight in a uniform flock).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Log-normal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Always positive, with a long tail to the right.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Many animals have low values, few animals have very high values.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Typical for hormone levels, parasites, and any measurement that multiplies rather than adds.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Gamma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Positive-only, skewed to the right.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Suited for measurements that cannot go below zero and vary a lot.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Common for time-to-event data, inflammation markers, or enzyme activities.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Weibull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Flexible shape; can model early risk or late risk.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Widely used in survival analysis.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Good for time until disease, time until failure, or longevity studies.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Exponential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Memoryless “time-to-event” model.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Describes processes where the chance of an event is constant over time.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Useful for modeling infection waiting times or time until the next occurrence.</a:t>
            </a:r>
          </a:p>
        </p:txBody>
      </p:sp>
    </p:spTree>
    <p:extLst>
      <p:ext uri="{BB962C8B-B14F-4D97-AF65-F5344CB8AC3E}">
        <p14:creationId xmlns:p14="http://schemas.microsoft.com/office/powerpoint/2010/main" val="25197040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25F9-559C-0F6B-725C-194ECB063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9058F75-3AB2-8557-E484-EF2D859A2E13}"/>
              </a:ext>
            </a:extLst>
          </p:cNvPr>
          <p:cNvSpPr txBox="1"/>
          <p:nvPr/>
        </p:nvSpPr>
        <p:spPr>
          <a:xfrm>
            <a:off x="331075" y="565291"/>
            <a:ext cx="8481849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Understanding Skewness and Kurtosis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Skewness (asymmetry of the data)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Zero skewness:</a:t>
            </a:r>
            <a:r>
              <a:rPr lang="en-US" dirty="0"/>
              <a:t> data is symmetric (classic bell shape)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Positive skewness:</a:t>
            </a:r>
            <a:r>
              <a:rPr lang="en-US" dirty="0"/>
              <a:t> long tail to the </a:t>
            </a:r>
            <a:r>
              <a:rPr lang="en-US" b="1" dirty="0"/>
              <a:t>right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Many animals have low values, few have very high ones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Common for hormones, parasites, biomarkers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Negative skewness:</a:t>
            </a:r>
            <a:r>
              <a:rPr lang="en-US" dirty="0"/>
              <a:t> long tail to the </a:t>
            </a:r>
            <a:r>
              <a:rPr lang="en-US" b="1" dirty="0"/>
              <a:t>left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Many high values, few low ones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Less common but possible in clinical measurements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dirty="0"/>
              <a:t>Kurtosis (heaviness of the tails)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Normal kurtosis = 3</a:t>
            </a:r>
            <a:r>
              <a:rPr lang="en-US" dirty="0"/>
              <a:t> (baseline)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High kurtosis (&gt; 3):</a:t>
            </a:r>
            <a:r>
              <a:rPr lang="en-US" dirty="0"/>
              <a:t> heavier tails, more extreme animals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Greater chance of outliers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Typical in disease indicators or stress markers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Low kurtosis (&lt; 3):</a:t>
            </a:r>
            <a:r>
              <a:rPr lang="en-US" dirty="0"/>
              <a:t> lighter tails, fewer outliers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Animals cluster tightly around the average</a:t>
            </a:r>
          </a:p>
        </p:txBody>
      </p:sp>
    </p:spTree>
    <p:extLst>
      <p:ext uri="{BB962C8B-B14F-4D97-AF65-F5344CB8AC3E}">
        <p14:creationId xmlns:p14="http://schemas.microsoft.com/office/powerpoint/2010/main" val="5908278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1F021-33C3-5E59-99EE-743AACDB3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8073A-59EE-29C0-4545-580344D5A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ANOVA</a:t>
            </a:r>
          </a:p>
        </p:txBody>
      </p:sp>
    </p:spTree>
    <p:extLst>
      <p:ext uri="{BB962C8B-B14F-4D97-AF65-F5344CB8AC3E}">
        <p14:creationId xmlns:p14="http://schemas.microsoft.com/office/powerpoint/2010/main" val="228436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AF527-741A-55B0-6F97-2337B667D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597CA-0BDE-3054-8162-405E2FE21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LM</a:t>
            </a:r>
          </a:p>
        </p:txBody>
      </p:sp>
    </p:spTree>
    <p:extLst>
      <p:ext uri="{BB962C8B-B14F-4D97-AF65-F5344CB8AC3E}">
        <p14:creationId xmlns:p14="http://schemas.microsoft.com/office/powerpoint/2010/main" val="36326414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D9354-6C45-00D5-B7E6-7B345F75E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36D138D-C390-F9E6-2AC6-A07BC9CC0BCC}"/>
              </a:ext>
            </a:extLst>
          </p:cNvPr>
          <p:cNvSpPr txBox="1"/>
          <p:nvPr/>
        </p:nvSpPr>
        <p:spPr>
          <a:xfrm>
            <a:off x="635876" y="117693"/>
            <a:ext cx="8019393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🐔 Understanding Model Diagnostics</a:t>
            </a:r>
          </a:p>
          <a:p>
            <a:endParaRPr lang="en-US" b="1" dirty="0"/>
          </a:p>
          <a:p>
            <a:r>
              <a:rPr lang="en-US" b="1" dirty="0"/>
              <a:t>Residuals vs Fitted Plot</a:t>
            </a:r>
          </a:p>
          <a:p>
            <a:r>
              <a:rPr lang="en-US" dirty="0"/>
              <a:t>Shows how far the predictions are from the observed values</a:t>
            </a:r>
          </a:p>
          <a:p>
            <a:r>
              <a:rPr lang="en-US" b="1" dirty="0"/>
              <a:t>Good model:</a:t>
            </a:r>
            <a:r>
              <a:rPr lang="en-US" dirty="0"/>
              <a:t> points spread randomly around the horizontal line</a:t>
            </a:r>
          </a:p>
          <a:p>
            <a:r>
              <a:rPr lang="en-US" b="1" dirty="0"/>
              <a:t>Warning signs:</a:t>
            </a:r>
            <a:endParaRPr lang="en-US" dirty="0"/>
          </a:p>
          <a:p>
            <a:pPr lvl="1"/>
            <a:r>
              <a:rPr lang="en-US" dirty="0"/>
              <a:t>Curved pattern → model is missing something</a:t>
            </a:r>
          </a:p>
          <a:p>
            <a:pPr lvl="1"/>
            <a:r>
              <a:rPr lang="en-US" dirty="0"/>
              <a:t>Funnel shape → variability is changing (heteroskedasticity)</a:t>
            </a:r>
          </a:p>
          <a:p>
            <a:pPr lvl="1"/>
            <a:r>
              <a:rPr lang="en-US" dirty="0"/>
              <a:t>Outliers far away from the cloud → unusual animals or measurements</a:t>
            </a:r>
          </a:p>
          <a:p>
            <a:endParaRPr lang="en-US" b="1" dirty="0"/>
          </a:p>
          <a:p>
            <a:r>
              <a:rPr lang="en-US" b="1" dirty="0"/>
              <a:t>Normal Q–Q Plot</a:t>
            </a:r>
          </a:p>
          <a:p>
            <a:r>
              <a:rPr lang="en-US" dirty="0"/>
              <a:t>Checks if the residuals follow a roughly normal distribution</a:t>
            </a:r>
          </a:p>
          <a:p>
            <a:r>
              <a:rPr lang="en-US" b="1" dirty="0"/>
              <a:t>Good model:</a:t>
            </a:r>
            <a:r>
              <a:rPr lang="en-US" dirty="0"/>
              <a:t> points fall close to the straight line</a:t>
            </a:r>
          </a:p>
          <a:p>
            <a:r>
              <a:rPr lang="en-US" b="1" dirty="0"/>
              <a:t>Warning signs:</a:t>
            </a:r>
            <a:endParaRPr lang="en-US" dirty="0"/>
          </a:p>
          <a:p>
            <a:pPr lvl="1"/>
            <a:r>
              <a:rPr lang="en-US" dirty="0"/>
              <a:t>Strong bends → skewed data</a:t>
            </a:r>
          </a:p>
          <a:p>
            <a:pPr lvl="1"/>
            <a:r>
              <a:rPr lang="en-US" dirty="0"/>
              <a:t>Ends far away from the line → heavy tails or extreme values</a:t>
            </a:r>
          </a:p>
          <a:p>
            <a:pPr lvl="1"/>
            <a:r>
              <a:rPr lang="en-US" dirty="0"/>
              <a:t>S-curve → treatment effects or transformations may be needed</a:t>
            </a:r>
          </a:p>
          <a:p>
            <a:endParaRPr lang="en-US" b="1" dirty="0"/>
          </a:p>
          <a:p>
            <a:r>
              <a:rPr lang="en-US" b="1" dirty="0"/>
              <a:t>Notes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both plots look roughly straight and even, the model is </a:t>
            </a:r>
            <a:r>
              <a:rPr lang="en-US" b="1" dirty="0"/>
              <a:t>trustworthy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Big deviations mean the model may need a tweak (e.g., transformation, different predictors, or a mixed model).</a:t>
            </a:r>
          </a:p>
        </p:txBody>
      </p:sp>
    </p:spTree>
    <p:extLst>
      <p:ext uri="{BB962C8B-B14F-4D97-AF65-F5344CB8AC3E}">
        <p14:creationId xmlns:p14="http://schemas.microsoft.com/office/powerpoint/2010/main" val="23514025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48000-8DB4-EFA8-B151-AF1410B42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LMM</a:t>
            </a:r>
          </a:p>
        </p:txBody>
      </p:sp>
    </p:spTree>
    <p:extLst>
      <p:ext uri="{BB962C8B-B14F-4D97-AF65-F5344CB8AC3E}">
        <p14:creationId xmlns:p14="http://schemas.microsoft.com/office/powerpoint/2010/main" val="3469912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4EEA22-109C-8598-D181-3B420FE4ECED}"/>
              </a:ext>
            </a:extLst>
          </p:cNvPr>
          <p:cNvSpPr txBox="1"/>
          <p:nvPr/>
        </p:nvSpPr>
        <p:spPr>
          <a:xfrm>
            <a:off x="635876" y="117693"/>
            <a:ext cx="8019393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Random Effects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they represent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They capture </a:t>
            </a:r>
            <a:r>
              <a:rPr lang="en-US" b="1" dirty="0"/>
              <a:t>natural differences between individual animals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Every chicken has its own baseline weight or behavior.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Random effects allow the model to </a:t>
            </a:r>
            <a:r>
              <a:rPr lang="en-US" b="1" dirty="0"/>
              <a:t>give each animal its own starting level</a:t>
            </a:r>
            <a:r>
              <a:rPr lang="en-US" dirty="0"/>
              <a:t>, instead of forcing all animals to be identical.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Why we need them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Animals in the same treatment group are </a:t>
            </a:r>
            <a:r>
              <a:rPr lang="en-US" i="1" dirty="0"/>
              <a:t>not</a:t>
            </a:r>
            <a:r>
              <a:rPr lang="en-US" dirty="0"/>
              <a:t> clones.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Some chickens naturally grow faster or slower, regardless of treatment.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Ignoring these differences makes the analysis less accurate, more biased and too optimistic about significance.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the model does with them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 model estimates how much animals </a:t>
            </a:r>
            <a:r>
              <a:rPr lang="en-US" b="1" dirty="0"/>
              <a:t>differ from each other on average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It adjusts treatment effects so they are not inflated by animal-to-animal variation.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 random effect acts like a </a:t>
            </a:r>
            <a:r>
              <a:rPr lang="en-US" b="1" dirty="0"/>
              <a:t>baseline correction</a:t>
            </a:r>
            <a:r>
              <a:rPr lang="en-US" dirty="0"/>
              <a:t> for each individual animal.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Veterinary practice interpretation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If random-effect variance is large:</a:t>
            </a:r>
            <a:br>
              <a:rPr lang="en-US" dirty="0"/>
            </a:br>
            <a:r>
              <a:rPr lang="en-US" dirty="0"/>
              <a:t> → animals in the trial vary a lot biologically.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If it's small:</a:t>
            </a:r>
            <a:br>
              <a:rPr lang="en-US" dirty="0"/>
            </a:br>
            <a:r>
              <a:rPr lang="en-US" dirty="0"/>
              <a:t> → animals behave very similarly; group differences dominate.</a:t>
            </a:r>
          </a:p>
        </p:txBody>
      </p:sp>
    </p:spTree>
    <p:extLst>
      <p:ext uri="{BB962C8B-B14F-4D97-AF65-F5344CB8AC3E}">
        <p14:creationId xmlns:p14="http://schemas.microsoft.com/office/powerpoint/2010/main" val="27230144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C47E32-1372-DB94-ECDF-E801FEE80F01}"/>
              </a:ext>
            </a:extLst>
          </p:cNvPr>
          <p:cNvSpPr txBox="1"/>
          <p:nvPr/>
        </p:nvSpPr>
        <p:spPr>
          <a:xfrm>
            <a:off x="273269" y="181957"/>
            <a:ext cx="8870731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Intraclass Correlation Coefficient (ICC)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ICC measures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ICC tells you </a:t>
            </a:r>
            <a:r>
              <a:rPr lang="en-US" b="1" dirty="0"/>
              <a:t>how much of the total variability comes from real biological differences between animals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It is the </a:t>
            </a:r>
            <a:r>
              <a:rPr lang="en-US" b="1" dirty="0"/>
              <a:t>proportion of variance explained by the animal itself</a:t>
            </a:r>
            <a:r>
              <a:rPr lang="en-US" dirty="0"/>
              <a:t>, not by treatment or random noise.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How to read ICC values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≈ 0.00–0.10 → low animal individuality</a:t>
            </a:r>
            <a:br>
              <a:rPr lang="en-US" dirty="0"/>
            </a:br>
            <a:r>
              <a:rPr lang="en-US" dirty="0"/>
              <a:t>Animals behave similarly; treatment or noise dominates.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≈ 0.20–0.40 → moderate individuality</a:t>
            </a:r>
            <a:br>
              <a:rPr lang="en-US" dirty="0"/>
            </a:br>
            <a:r>
              <a:rPr lang="en-US" dirty="0"/>
              <a:t>Animals have meaningful biological differences.</a:t>
            </a:r>
            <a:br>
              <a:rPr lang="en-US" dirty="0"/>
            </a:br>
            <a:r>
              <a:rPr lang="en-US" dirty="0"/>
              <a:t>This is typical in growth, behavior, physiology.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&gt; 0.40 → strong individuality</a:t>
            </a:r>
            <a:br>
              <a:rPr lang="en-US" dirty="0"/>
            </a:br>
            <a:r>
              <a:rPr lang="en-US" dirty="0"/>
              <a:t>Each animal is quite different, and repeated measurements cluster tightly within each animal.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ICC means in practice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High ICC means repeated measurements from the same animal are </a:t>
            </a:r>
            <a:r>
              <a:rPr lang="en-US" b="1" dirty="0"/>
              <a:t>more similar to each other</a:t>
            </a:r>
            <a:r>
              <a:rPr lang="en-US" dirty="0"/>
              <a:t> than to measurements from other animals.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Low ICC means each animal behaves </a:t>
            </a:r>
            <a:r>
              <a:rPr lang="en-US" b="1" dirty="0"/>
              <a:t>more like the group</a:t>
            </a:r>
            <a:r>
              <a:rPr lang="en-US" dirty="0"/>
              <a:t>, with weak individuality.</a:t>
            </a:r>
          </a:p>
        </p:txBody>
      </p:sp>
    </p:spTree>
    <p:extLst>
      <p:ext uri="{BB962C8B-B14F-4D97-AF65-F5344CB8AC3E}">
        <p14:creationId xmlns:p14="http://schemas.microsoft.com/office/powerpoint/2010/main" val="27700303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2C693-2DDA-4516-F114-168172E1F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E04D5-C666-B927-1436-9983B7522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PCA</a:t>
            </a:r>
          </a:p>
        </p:txBody>
      </p:sp>
    </p:spTree>
    <p:extLst>
      <p:ext uri="{BB962C8B-B14F-4D97-AF65-F5344CB8AC3E}">
        <p14:creationId xmlns:p14="http://schemas.microsoft.com/office/powerpoint/2010/main" val="16467393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961D4-A409-0CCA-2366-A2A339784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ABBF7E7-4397-9A8E-5361-4241BE9843B7}"/>
              </a:ext>
            </a:extLst>
          </p:cNvPr>
          <p:cNvSpPr txBox="1"/>
          <p:nvPr/>
        </p:nvSpPr>
        <p:spPr>
          <a:xfrm>
            <a:off x="204952" y="612844"/>
            <a:ext cx="770933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How to Interpret PCA 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2A610C-E699-6D0E-4A74-F14E40BF6778}"/>
              </a:ext>
            </a:extLst>
          </p:cNvPr>
          <p:cNvSpPr txBox="1"/>
          <p:nvPr/>
        </p:nvSpPr>
        <p:spPr>
          <a:xfrm>
            <a:off x="357351" y="1661747"/>
            <a:ext cx="444062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── PCA Summary ──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Importance of components: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                  PC1    PC2    PC3    PC4     PC5     PC6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Standard deviation     1.4475 1.1806 0.9907 0.7925 0.69433 0.64737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Proportion of Variance 0.3492 0.2323 0.1636 0.1047 0.08035 0.06985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Cumulative Proportion  0.3492 0.5815 0.7451 0.8498 0.93015 1.00000</a:t>
            </a:r>
          </a:p>
          <a:p>
            <a:pPr algn="l">
              <a:buNone/>
            </a:pPr>
            <a:endParaRPr lang="en-US" sz="800" b="0" i="0" dirty="0">
              <a:solidFill>
                <a:srgbClr val="000000"/>
              </a:solidFill>
              <a:effectLst/>
              <a:latin typeface="Fira Mono" panose="020B0509050000020004" pitchFamily="49" charset="0"/>
            </a:endParaRP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── PCA Loadings (rotation matrix) ──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           PC1    PC2    PC3    PC4    PC5    PC6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Weight_baseline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-0.062 -0.227 -0.965  0.046  0.001  0.106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Cortisol        -0.587  0.034 -0.057  0.035 -0.013 -0.806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Glucose         -0.482 -0.388  0.159  0.048  0.701  0.314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FeedIntake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0.172 -0.662  0.092 -0.685 -0.138 -0.187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HeartRate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0.296 -0.570  0.125  0.719 -0.093 -0.216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BodyTemp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-0.550 -0.185  0.126  0.088 -0.693  0.399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219FDC-BED7-E0F8-0107-163E3A20E6FD}"/>
              </a:ext>
            </a:extLst>
          </p:cNvPr>
          <p:cNvSpPr txBox="1"/>
          <p:nvPr/>
        </p:nvSpPr>
        <p:spPr>
          <a:xfrm>
            <a:off x="4703380" y="1074509"/>
            <a:ext cx="4572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1. Standard deviations (PC strength)</a:t>
            </a:r>
          </a:p>
          <a:p>
            <a:r>
              <a:rPr lang="en-US" dirty="0"/>
              <a:t>Each principal component has a </a:t>
            </a:r>
            <a:r>
              <a:rPr lang="en-US" b="1" dirty="0"/>
              <a:t>standard deviation</a:t>
            </a:r>
            <a:r>
              <a:rPr lang="en-US" dirty="0"/>
              <a:t> showing how widely animals spread along that axis.</a:t>
            </a:r>
          </a:p>
          <a:p>
            <a:r>
              <a:rPr lang="en-US" b="1" dirty="0"/>
              <a:t>Bigger SD = more biological variation captured.</a:t>
            </a:r>
            <a:endParaRPr lang="en-US" dirty="0"/>
          </a:p>
          <a:p>
            <a:pPr lvl="1"/>
            <a:r>
              <a:rPr lang="en-US" dirty="0"/>
              <a:t>PC1 SD = </a:t>
            </a:r>
            <a:r>
              <a:rPr lang="en-US" b="1" dirty="0"/>
              <a:t>1.45</a:t>
            </a:r>
            <a:r>
              <a:rPr lang="en-US" dirty="0"/>
              <a:t> → strongest pattern</a:t>
            </a:r>
          </a:p>
          <a:p>
            <a:pPr lvl="1"/>
            <a:r>
              <a:rPr lang="en-US" dirty="0"/>
              <a:t>PC2 SD = </a:t>
            </a:r>
            <a:r>
              <a:rPr lang="en-US" b="1" dirty="0"/>
              <a:t>1.18</a:t>
            </a:r>
            <a:endParaRPr lang="en-US" dirty="0"/>
          </a:p>
          <a:p>
            <a:pPr lvl="1"/>
            <a:r>
              <a:rPr lang="en-US" dirty="0"/>
              <a:t>PC3 SD = </a:t>
            </a:r>
            <a:r>
              <a:rPr lang="en-US" b="1" dirty="0"/>
              <a:t>0.99</a:t>
            </a:r>
          </a:p>
          <a:p>
            <a:pPr lvl="1"/>
            <a:endParaRPr lang="en-US" dirty="0"/>
          </a:p>
          <a:p>
            <a:r>
              <a:rPr lang="en-US" b="1" dirty="0"/>
              <a:t>2. Proportion of variance (importance)</a:t>
            </a:r>
          </a:p>
          <a:p>
            <a:r>
              <a:rPr lang="en-US" dirty="0"/>
              <a:t>Tells how much of the entire dataset each PC explains.</a:t>
            </a:r>
          </a:p>
          <a:p>
            <a:r>
              <a:rPr lang="en-US" b="1" dirty="0"/>
              <a:t>PC1 = 35%</a:t>
            </a:r>
            <a:r>
              <a:rPr lang="en-US" dirty="0"/>
              <a:t>, </a:t>
            </a:r>
            <a:r>
              <a:rPr lang="en-US" b="1" dirty="0"/>
              <a:t>PC2 = 23%</a:t>
            </a:r>
            <a:r>
              <a:rPr lang="en-US" dirty="0"/>
              <a:t>, </a:t>
            </a:r>
            <a:r>
              <a:rPr lang="en-US" b="1" dirty="0"/>
              <a:t>PC3 = 16%</a:t>
            </a:r>
            <a:endParaRPr lang="en-US" dirty="0"/>
          </a:p>
          <a:p>
            <a:r>
              <a:rPr lang="en-US" dirty="0"/>
              <a:t>PC1 + PC2 = </a:t>
            </a:r>
            <a:r>
              <a:rPr lang="en-US" b="1" dirty="0"/>
              <a:t>58%</a:t>
            </a:r>
            <a:r>
              <a:rPr lang="en-US" dirty="0"/>
              <a:t> → more than half of all differences between animals.</a:t>
            </a:r>
          </a:p>
          <a:p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3B9A57-5078-437C-207C-D3D33CE7D652}"/>
              </a:ext>
            </a:extLst>
          </p:cNvPr>
          <p:cNvSpPr txBox="1"/>
          <p:nvPr/>
        </p:nvSpPr>
        <p:spPr>
          <a:xfrm>
            <a:off x="270642" y="4465482"/>
            <a:ext cx="461404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3. Loadings (what each PC represents biologically)</a:t>
            </a:r>
          </a:p>
          <a:p>
            <a:r>
              <a:rPr lang="en-US" dirty="0"/>
              <a:t>Loadings show </a:t>
            </a:r>
            <a:r>
              <a:rPr lang="en-US" b="1" dirty="0"/>
              <a:t>how each original measurement contributes</a:t>
            </a:r>
            <a:r>
              <a:rPr lang="en-US" dirty="0"/>
              <a:t> to a PC.</a:t>
            </a:r>
          </a:p>
          <a:p>
            <a:r>
              <a:rPr lang="en-US" b="1" dirty="0"/>
              <a:t>Large absolute values</a:t>
            </a:r>
            <a:r>
              <a:rPr lang="en-US" dirty="0"/>
              <a:t> = strong influence.</a:t>
            </a:r>
          </a:p>
          <a:p>
            <a:r>
              <a:rPr lang="en-US" b="1" dirty="0"/>
              <a:t>Same sign</a:t>
            </a:r>
            <a:r>
              <a:rPr lang="en-US" dirty="0"/>
              <a:t> = variables increase together; </a:t>
            </a:r>
            <a:r>
              <a:rPr lang="en-US" b="1" dirty="0"/>
              <a:t>opposite sign</a:t>
            </a:r>
            <a:r>
              <a:rPr lang="en-US" dirty="0"/>
              <a:t> = move in opposite directions.</a:t>
            </a:r>
          </a:p>
        </p:txBody>
      </p:sp>
    </p:spTree>
    <p:extLst>
      <p:ext uri="{BB962C8B-B14F-4D97-AF65-F5344CB8AC3E}">
        <p14:creationId xmlns:p14="http://schemas.microsoft.com/office/powerpoint/2010/main" val="25486284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4115</TotalTime>
  <Words>1597</Words>
  <Application>Microsoft Macintosh PowerPoint</Application>
  <PresentationFormat>On-screen Show (4:3)</PresentationFormat>
  <Paragraphs>205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Arial</vt:lpstr>
      <vt:lpstr>Calibri</vt:lpstr>
      <vt:lpstr>Fira Mono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NOTES on DESCRIPTIVE STATISTICS</vt:lpstr>
      <vt:lpstr>PowerPoint Presentation</vt:lpstr>
      <vt:lpstr>PowerPoint Presentation</vt:lpstr>
      <vt:lpstr>PowerPoint Presentation</vt:lpstr>
      <vt:lpstr>NOTES on ANOVA</vt:lpstr>
      <vt:lpstr>NOTES on LM</vt:lpstr>
      <vt:lpstr>PowerPoint Presentation</vt:lpstr>
      <vt:lpstr>NOTES on LMM</vt:lpstr>
      <vt:lpstr>PowerPoint Presentation</vt:lpstr>
      <vt:lpstr>PowerPoint Presentation</vt:lpstr>
      <vt:lpstr>NOTES on PCA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Palmieri Nicola</cp:lastModifiedBy>
  <cp:revision>40</cp:revision>
  <dcterms:created xsi:type="dcterms:W3CDTF">2013-01-27T09:14:16Z</dcterms:created>
  <dcterms:modified xsi:type="dcterms:W3CDTF">2025-11-27T09:36:42Z</dcterms:modified>
  <cp:category/>
</cp:coreProperties>
</file>