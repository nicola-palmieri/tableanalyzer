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7" r:id="rId12"/>
    <p:sldId id="276" r:id="rId13"/>
    <p:sldId id="272" r:id="rId14"/>
    <p:sldId id="273" r:id="rId15"/>
    <p:sldId id="278" r:id="rId16"/>
    <p:sldId id="262" r:id="rId17"/>
    <p:sldId id="259" r:id="rId18"/>
    <p:sldId id="283" r:id="rId19"/>
    <p:sldId id="260" r:id="rId20"/>
    <p:sldId id="281" r:id="rId21"/>
    <p:sldId id="263" r:id="rId22"/>
    <p:sldId id="265" r:id="rId23"/>
    <p:sldId id="280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06"/>
    <p:restoredTop sz="94683"/>
  </p:normalViewPr>
  <p:slideViewPr>
    <p:cSldViewPr snapToGrid="0" snapToObjects="1">
      <p:cViewPr varScale="1">
        <p:scale>
          <a:sx n="197" d="100"/>
          <a:sy n="197" d="100"/>
        </p:scale>
        <p:origin x="38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68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Ability to load both long and wide datasets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381342"/>
            <a:ext cx="854490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"car"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ggrepel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and flexible in shape.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Can be sharply rising or gently curved depending on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Appears in measurements that change pace over time, such as growth or production curves.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with a rapid drop-off.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values occur often, large values are rare.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Seen in quick biological processes where most observations cluster near the lower end.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9A113-0BEE-FBEB-17DE-E00F202C7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2759BD-FF1B-0C4C-94A4-E527F66FE7C4}"/>
              </a:ext>
            </a:extLst>
          </p:cNvPr>
          <p:cNvSpPr txBox="1"/>
          <p:nvPr/>
        </p:nvSpPr>
        <p:spPr>
          <a:xfrm>
            <a:off x="105104" y="249475"/>
            <a:ext cx="903889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the Type III ANOVA Table Shows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 table that tests whether each factor in the model has an </a:t>
            </a:r>
            <a:r>
              <a:rPr lang="en-US" b="1" dirty="0"/>
              <a:t>overall effect</a:t>
            </a:r>
            <a:r>
              <a:rPr lang="en-US" dirty="0"/>
              <a:t> on the outcome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uses all data to answer:</a:t>
            </a:r>
            <a:br>
              <a:rPr lang="en-US" dirty="0"/>
            </a:br>
            <a:r>
              <a:rPr lang="en-US" b="1" dirty="0"/>
              <a:t>“Does this variable influence the response?”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tells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Significance (p-value):</a:t>
            </a:r>
            <a:r>
              <a:rPr lang="en-US" dirty="0"/>
              <a:t> whether the variable influences the response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F-value:</a:t>
            </a:r>
            <a:r>
              <a:rPr lang="en-US" dirty="0"/>
              <a:t> how strong that influence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Works for main effects and interactions (e.g., Treatment, Week, </a:t>
            </a:r>
            <a:r>
              <a:rPr lang="en-US" dirty="0" err="1"/>
              <a:t>Treatment×Week</a:t>
            </a:r>
            <a:r>
              <a:rPr lang="en-US" dirty="0"/>
              <a:t>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does </a:t>
            </a:r>
            <a:r>
              <a:rPr lang="en-US" b="1" i="1" dirty="0"/>
              <a:t>not</a:t>
            </a:r>
            <a:r>
              <a:rPr lang="en-US" b="1" dirty="0"/>
              <a:t> tell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direction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does </a:t>
            </a:r>
            <a:r>
              <a:rPr lang="en-US" i="1" dirty="0"/>
              <a:t>not</a:t>
            </a:r>
            <a:r>
              <a:rPr lang="en-US" dirty="0"/>
              <a:t> say whether a group is higher or lower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which groups differ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only tests the variable as a whole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estimated means or contrasts</a:t>
            </a:r>
          </a:p>
        </p:txBody>
      </p:sp>
    </p:spTree>
    <p:extLst>
      <p:ext uri="{BB962C8B-B14F-4D97-AF65-F5344CB8AC3E}">
        <p14:creationId xmlns:p14="http://schemas.microsoft.com/office/powerpoint/2010/main" val="325401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852C62-D2DD-98CD-477C-92BD99E94608}"/>
              </a:ext>
            </a:extLst>
          </p:cNvPr>
          <p:cNvSpPr txBox="1"/>
          <p:nvPr/>
        </p:nvSpPr>
        <p:spPr>
          <a:xfrm>
            <a:off x="115614" y="199973"/>
            <a:ext cx="836623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Are Dunnett Contrasts in ANOVA?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Dunnett’s test does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Compares </a:t>
            </a:r>
            <a:r>
              <a:rPr lang="en-US" b="1" dirty="0"/>
              <a:t>each treatment group directly to the control group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Does </a:t>
            </a:r>
            <a:r>
              <a:rPr lang="en-US" b="1" dirty="0"/>
              <a:t>not</a:t>
            </a:r>
            <a:r>
              <a:rPr lang="en-US" dirty="0"/>
              <a:t> compare treatments with each other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Designed for experiments where the control is the main reference (very common in veterinary trials)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it is useful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Prevents false positives when making multiple comparisons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More powerful and more appropriate than doing all pairwise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Ideal when the question is:</a:t>
            </a:r>
            <a:br>
              <a:rPr lang="en-US" dirty="0"/>
            </a:br>
            <a:r>
              <a:rPr lang="en-US" b="1" dirty="0"/>
              <a:t>“Is this treatment different from the control?”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veterinarians should look 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Estimate:</a:t>
            </a:r>
            <a:r>
              <a:rPr lang="en-US" dirty="0"/>
              <a:t> how much higher/lower the treatment is than the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Confidence interval:</a:t>
            </a:r>
            <a:r>
              <a:rPr lang="en-US" dirty="0"/>
              <a:t> whether the difference is meaningful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p-value:</a:t>
            </a:r>
            <a:r>
              <a:rPr lang="en-US" dirty="0"/>
              <a:t> whether the treatment differs significantly from control</a:t>
            </a:r>
          </a:p>
        </p:txBody>
      </p:sp>
    </p:spTree>
    <p:extLst>
      <p:ext uri="{BB962C8B-B14F-4D97-AF65-F5344CB8AC3E}">
        <p14:creationId xmlns:p14="http://schemas.microsoft.com/office/powerpoint/2010/main" val="2213024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A916B4-23AB-2881-BFE9-2322424629F7}"/>
              </a:ext>
            </a:extLst>
          </p:cNvPr>
          <p:cNvSpPr txBox="1"/>
          <p:nvPr/>
        </p:nvSpPr>
        <p:spPr>
          <a:xfrm>
            <a:off x="160020" y="144460"/>
            <a:ext cx="8983980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/>
              <a:t>How to Interpret the Estimates</a:t>
            </a:r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dirty="0"/>
              <a:t>The </a:t>
            </a:r>
            <a:r>
              <a:rPr lang="en-US" sz="1200" b="1" dirty="0"/>
              <a:t>Intercept</a:t>
            </a:r>
            <a:r>
              <a:rPr lang="en-US" sz="1200" dirty="0"/>
              <a:t> is the predicted value for the </a:t>
            </a:r>
            <a:r>
              <a:rPr lang="en-US" sz="1200" b="1" dirty="0"/>
              <a:t>reference animal</a:t>
            </a:r>
            <a:r>
              <a:rPr lang="en-US" sz="1200" dirty="0"/>
              <a:t>:</a:t>
            </a:r>
            <a:br>
              <a:rPr lang="en-US" sz="1200" dirty="0"/>
            </a:br>
            <a:r>
              <a:rPr lang="en-US" sz="1200" dirty="0"/>
              <a:t>Control + Normal diet + </a:t>
            </a:r>
            <a:r>
              <a:rPr lang="en-US" sz="1200" dirty="0" err="1"/>
              <a:t>HeartRate</a:t>
            </a:r>
            <a:r>
              <a:rPr lang="en-US" sz="1200" dirty="0"/>
              <a:t> = 0 + Glucose = 0</a:t>
            </a:r>
            <a:br>
              <a:rPr lang="en-US" sz="1200" dirty="0"/>
            </a:br>
            <a:r>
              <a:rPr lang="en-US" sz="1200" dirty="0"/>
              <a:t>→ </a:t>
            </a:r>
            <a:r>
              <a:rPr lang="en-US" sz="1200" b="1" dirty="0"/>
              <a:t>8.59</a:t>
            </a:r>
            <a:endParaRPr lang="en-US" sz="1200" dirty="0"/>
          </a:p>
          <a:p>
            <a:pPr>
              <a:buNone/>
            </a:pPr>
            <a:r>
              <a:rPr lang="en-US" sz="1200" dirty="0"/>
              <a:t>Each estimate shows </a:t>
            </a:r>
            <a:r>
              <a:rPr lang="en-US" sz="1200" b="1" dirty="0"/>
              <a:t>how much to add or subtract</a:t>
            </a:r>
            <a:r>
              <a:rPr lang="en-US" sz="1200" dirty="0"/>
              <a:t> when that part changes.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Treatment effects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A: +1.49</a:t>
            </a:r>
            <a:br>
              <a:rPr lang="en-US" sz="1200" dirty="0"/>
            </a:br>
            <a:r>
              <a:rPr lang="en-US" sz="1200" dirty="0"/>
              <a:t>→ Control (8.59) → Drug A = </a:t>
            </a:r>
            <a:r>
              <a:rPr lang="en-US" sz="1200" b="1" dirty="0"/>
              <a:t>8.59 + 1.49 = 10.08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B: +2.95</a:t>
            </a:r>
            <a:br>
              <a:rPr lang="en-US" sz="1200" dirty="0"/>
            </a:br>
            <a:r>
              <a:rPr lang="en-US" sz="1200" dirty="0"/>
              <a:t>→ Control (8.59) → Drug B = </a:t>
            </a:r>
            <a:r>
              <a:rPr lang="en-US" sz="1200" b="1" dirty="0"/>
              <a:t>8.59 + 2.95 = 11.54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Diet effect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High-Fat diet: +1.14</a:t>
            </a:r>
            <a:br>
              <a:rPr lang="en-US" sz="1200" dirty="0"/>
            </a:br>
            <a:r>
              <a:rPr lang="en-US" sz="1200" dirty="0"/>
              <a:t>→ Low-Fat diet (8.59) → High-Fat = </a:t>
            </a:r>
            <a:r>
              <a:rPr lang="en-US" sz="1200" b="1" dirty="0"/>
              <a:t>8.59 + 1.14 = 9.73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Numeric predictors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</a:t>
            </a:r>
            <a:r>
              <a:rPr lang="en-US" sz="1200" b="1" dirty="0" err="1"/>
              <a:t>HeartRate</a:t>
            </a:r>
            <a:r>
              <a:rPr lang="en-US" sz="1200" b="1" dirty="0"/>
              <a:t>: +0.015 per unit</a:t>
            </a:r>
            <a:br>
              <a:rPr lang="en-US" sz="1200" dirty="0"/>
            </a:br>
            <a:r>
              <a:rPr lang="en-US" sz="1200" dirty="0"/>
              <a:t>→ HR = 100 → </a:t>
            </a:r>
            <a:r>
              <a:rPr lang="en-US" sz="1200" b="1" dirty="0"/>
              <a:t>8.59 + 100×0.015 = 10.09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Glucose: +0.00001 per unit</a:t>
            </a:r>
            <a:br>
              <a:rPr lang="en-US" sz="1200" dirty="0"/>
            </a:br>
            <a:r>
              <a:rPr lang="en-US" sz="1200" dirty="0"/>
              <a:t>→ negligible change (even at high values)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Interactions (two things changing together)</a:t>
            </a:r>
          </a:p>
          <a:p>
            <a:pPr>
              <a:buNone/>
            </a:pPr>
            <a:r>
              <a:rPr lang="en-US" sz="1200" dirty="0"/>
              <a:t>Show whether the combination differs from simply adding both effects.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 × High-Fat: –0.078</a:t>
            </a:r>
            <a:br>
              <a:rPr lang="en-US" sz="1200" dirty="0"/>
            </a:br>
            <a:r>
              <a:rPr lang="en-US" sz="1200" dirty="0"/>
              <a:t>→ 8.59 + 1.49 + 1.14 </a:t>
            </a:r>
            <a:r>
              <a:rPr lang="en-US" sz="1200" b="1" dirty="0"/>
              <a:t>– 0.078 = 11.15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 × High-Fat: –0.275</a:t>
            </a:r>
            <a:br>
              <a:rPr lang="en-US" sz="1200" dirty="0"/>
            </a:br>
            <a:r>
              <a:rPr lang="en-US" sz="1200" dirty="0"/>
              <a:t>→ 8.59 + 2.95 + 1.14 </a:t>
            </a:r>
            <a:r>
              <a:rPr lang="en-US" sz="1200" b="1" dirty="0"/>
              <a:t>– 0.275 = 12.40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C18B8D-05FC-D59A-EE14-0595BB104087}"/>
              </a:ext>
            </a:extLst>
          </p:cNvPr>
          <p:cNvSpPr txBox="1"/>
          <p:nvPr/>
        </p:nvSpPr>
        <p:spPr>
          <a:xfrm>
            <a:off x="4321854" y="1627887"/>
            <a:ext cx="49377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Coefficients: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   Term  Estimate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Std.Error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Statistic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p.value</a:t>
            </a:r>
            <a:endParaRPr lang="en-US" sz="800" dirty="0">
              <a:latin typeface="Fira Mono" panose="020B0509050000020004" pitchFamily="49" charset="0"/>
              <a:ea typeface="Fira Mono" panose="020B0509050000020004" pitchFamily="49" charset="0"/>
            </a:endParaRP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(Intercept)  8.591096  3.271296  2.626206  0.00984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1.487336  0.307605  4.835212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2.951441  0.350845  8.412374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1.139293  0.339371  3.357068  0.00108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HeartRate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0.015424  0.034168  0.451411  0.65257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Glucose  0.000012  0.017572  0.000674  0.99946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-0.078163  0.421136 -0.185601  0.85309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-0.275312  0.443040 -0.621417  0.53559 </a:t>
            </a:r>
          </a:p>
        </p:txBody>
      </p:sp>
    </p:spTree>
    <p:extLst>
      <p:ext uri="{BB962C8B-B14F-4D97-AF65-F5344CB8AC3E}">
        <p14:creationId xmlns:p14="http://schemas.microsoft.com/office/powerpoint/2010/main" val="2508344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052D8DB-AB54-F64B-24C4-20307CEF4E6A}"/>
              </a:ext>
            </a:extLst>
          </p:cNvPr>
          <p:cNvSpPr txBox="1"/>
          <p:nvPr/>
        </p:nvSpPr>
        <p:spPr>
          <a:xfrm>
            <a:off x="603504" y="510689"/>
            <a:ext cx="793699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</a:t>
            </a:r>
            <a:r>
              <a:rPr lang="en-GB" dirty="0"/>
              <a:t> </a:t>
            </a:r>
            <a:r>
              <a:rPr lang="en-GB" b="1" dirty="0"/>
              <a:t>Crossed vs Nested Random Effects (Why They Matter)</a:t>
            </a:r>
          </a:p>
          <a:p>
            <a:endParaRPr lang="en-GB" dirty="0"/>
          </a:p>
          <a:p>
            <a:r>
              <a:rPr lang="en-GB" b="1" dirty="0"/>
              <a:t>Nested (A inside B)</a:t>
            </a:r>
          </a:p>
          <a:p>
            <a:r>
              <a:rPr lang="en-GB" dirty="0"/>
              <a:t>•	Use when one group lives inside another</a:t>
            </a:r>
          </a:p>
          <a:p>
            <a:r>
              <a:rPr lang="en-GB" dirty="0"/>
              <a:t>•	Example: Birds within Farms → (1 | Farm/Bird)</a:t>
            </a:r>
          </a:p>
          <a:p>
            <a:r>
              <a:rPr lang="en-GB" dirty="0"/>
              <a:t>✔ Bird IDs repeat across farms</a:t>
            </a:r>
          </a:p>
          <a:p>
            <a:r>
              <a:rPr lang="en-GB" dirty="0"/>
              <a:t>•	Tells us: How much farms differ, and how much birds differ inside each farm</a:t>
            </a:r>
          </a:p>
          <a:p>
            <a:r>
              <a:rPr lang="en-GB" dirty="0"/>
              <a:t>________________________________________</a:t>
            </a:r>
          </a:p>
          <a:p>
            <a:r>
              <a:rPr lang="en-GB" b="1" dirty="0"/>
              <a:t>Crossed (Independent groups)</a:t>
            </a:r>
          </a:p>
          <a:p>
            <a:r>
              <a:rPr lang="en-GB" dirty="0"/>
              <a:t>•	Two sources of variation act separately</a:t>
            </a:r>
          </a:p>
          <a:p>
            <a:r>
              <a:rPr lang="en-GB" dirty="0"/>
              <a:t>•	Example: Bird × Technician → (1 | Bird) + (1 | Technician)</a:t>
            </a:r>
          </a:p>
          <a:p>
            <a:r>
              <a:rPr lang="en-GB" dirty="0"/>
              <a:t>✔ Any technician can handle any bird</a:t>
            </a:r>
          </a:p>
          <a:p>
            <a:r>
              <a:rPr lang="en-GB" dirty="0"/>
              <a:t>•	Tells us: How much variation comes from birds vs handlers</a:t>
            </a:r>
          </a:p>
          <a:p>
            <a:r>
              <a:rPr lang="en-GB" dirty="0"/>
              <a:t>________________________________________</a:t>
            </a:r>
          </a:p>
          <a:p>
            <a:r>
              <a:rPr lang="en-GB" b="1" dirty="0"/>
              <a:t>Why Important in Animal Trials</a:t>
            </a:r>
          </a:p>
          <a:p>
            <a:r>
              <a:rPr lang="en-GB" dirty="0"/>
              <a:t>•	Prevents farm or handler effects from hiding true diet or treatment effects</a:t>
            </a:r>
          </a:p>
          <a:p>
            <a:r>
              <a:rPr lang="en-GB" dirty="0"/>
              <a:t>•	Ensures we correctly model where variability comes from</a:t>
            </a:r>
          </a:p>
          <a:p>
            <a:r>
              <a:rPr lang="en-GB" dirty="0"/>
              <a:t>•	Leads to more accurate and trustworthy conclusions for flock management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79413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772C965-4429-5580-C4F9-862D4DFF3202}"/>
              </a:ext>
            </a:extLst>
          </p:cNvPr>
          <p:cNvSpPr txBox="1"/>
          <p:nvPr/>
        </p:nvSpPr>
        <p:spPr>
          <a:xfrm>
            <a:off x="273269" y="181957"/>
            <a:ext cx="507272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</a:t>
            </a:r>
            <a:r>
              <a:rPr lang="en-GB" b="1" dirty="0"/>
              <a:t> How to </a:t>
            </a:r>
            <a:r>
              <a:rPr lang="en-GB" b="1" dirty="0" err="1"/>
              <a:t>Interprete</a:t>
            </a:r>
            <a:r>
              <a:rPr lang="en-GB" b="1" dirty="0"/>
              <a:t> Random Effects in the Model</a:t>
            </a:r>
          </a:p>
          <a:p>
            <a:endParaRPr lang="en-GB" b="1" dirty="0"/>
          </a:p>
          <a:p>
            <a:pPr>
              <a:buNone/>
            </a:pPr>
            <a:r>
              <a:rPr lang="en-GB" b="1" dirty="0"/>
              <a:t>Farm (0% variance)</a:t>
            </a:r>
          </a:p>
          <a:p>
            <a:pPr>
              <a:buNone/>
            </a:pPr>
            <a:r>
              <a:rPr lang="en-GB" dirty="0"/>
              <a:t>•	Farms show no real difference in growth performance.</a:t>
            </a:r>
          </a:p>
          <a:p>
            <a:pPr>
              <a:buNone/>
            </a:pPr>
            <a:r>
              <a:rPr lang="en-GB" dirty="0"/>
              <a:t>•	Diet effects are not confounded by farm.</a:t>
            </a:r>
          </a:p>
          <a:p>
            <a:pPr>
              <a:buNone/>
            </a:pPr>
            <a:r>
              <a:rPr lang="en-GB" b="1" dirty="0"/>
              <a:t>Bird within Farm (~0.76 variance; ICC ≈ 2.5%)</a:t>
            </a:r>
          </a:p>
          <a:p>
            <a:pPr>
              <a:buNone/>
            </a:pPr>
            <a:r>
              <a:rPr lang="en-GB" b="1" dirty="0"/>
              <a:t>•</a:t>
            </a:r>
            <a:r>
              <a:rPr lang="en-GB" dirty="0"/>
              <a:t>	Birds differ slightly from each other, as expected in biology.</a:t>
            </a:r>
          </a:p>
          <a:p>
            <a:pPr>
              <a:buNone/>
            </a:pPr>
            <a:r>
              <a:rPr lang="en-GB" dirty="0"/>
              <a:t>•	Only 2–3% of all variability is due to bird-to-bird differences.</a:t>
            </a:r>
          </a:p>
          <a:p>
            <a:pPr>
              <a:buNone/>
            </a:pPr>
            <a:r>
              <a:rPr lang="en-GB" b="1" dirty="0"/>
              <a:t>Residual Variance (≈ 29.7)</a:t>
            </a:r>
          </a:p>
          <a:p>
            <a:pPr>
              <a:buNone/>
            </a:pPr>
            <a:r>
              <a:rPr lang="en-GB" dirty="0"/>
              <a:t>•	Most variation comes from normal measurement and individual noise.</a:t>
            </a:r>
          </a:p>
          <a:p>
            <a:pPr>
              <a:buNone/>
            </a:pPr>
            <a:r>
              <a:rPr lang="en-GB" dirty="0"/>
              <a:t>•	This is typical in animal-level traits.</a:t>
            </a:r>
          </a:p>
          <a:p>
            <a:pPr>
              <a:buNone/>
            </a:pPr>
            <a:r>
              <a:rPr lang="en-GB" b="1" dirty="0"/>
              <a:t>________________________________________</a:t>
            </a:r>
          </a:p>
          <a:p>
            <a:pPr>
              <a:buNone/>
            </a:pPr>
            <a:r>
              <a:rPr lang="en-GB" b="1" dirty="0"/>
              <a:t>🐣 Key Take-Home Message</a:t>
            </a:r>
          </a:p>
          <a:p>
            <a:pPr>
              <a:buNone/>
            </a:pPr>
            <a:r>
              <a:rPr lang="en-GB" b="1" dirty="0"/>
              <a:t>•</a:t>
            </a:r>
            <a:r>
              <a:rPr lang="en-GB" dirty="0"/>
              <a:t>	Farm effect: none</a:t>
            </a:r>
          </a:p>
          <a:p>
            <a:pPr>
              <a:buNone/>
            </a:pPr>
            <a:r>
              <a:rPr lang="en-GB" dirty="0"/>
              <a:t>•	Bird effect: small</a:t>
            </a:r>
          </a:p>
          <a:p>
            <a:pPr>
              <a:buNone/>
            </a:pPr>
            <a:r>
              <a:rPr lang="en-GB" dirty="0"/>
              <a:t>•	Main variability: individual noise</a:t>
            </a:r>
          </a:p>
          <a:p>
            <a:pPr>
              <a:buNone/>
            </a:pPr>
            <a:r>
              <a:rPr lang="en-GB" dirty="0"/>
              <a:t>•	Diet effects should be interpreted knowing that </a:t>
            </a:r>
            <a:r>
              <a:rPr lang="en-GB" b="1" dirty="0"/>
              <a:t>animal-to-animal differences are minimal</a:t>
            </a:r>
            <a:r>
              <a:rPr lang="en-GB" dirty="0"/>
              <a:t>, and </a:t>
            </a:r>
            <a:r>
              <a:rPr lang="en-GB" b="1" dirty="0"/>
              <a:t>farm does not confound the results</a:t>
            </a:r>
            <a:r>
              <a:rPr lang="en-GB" dirty="0"/>
              <a:t>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F4C4925-F0B6-2A14-323E-1318D8CAD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989" y="746414"/>
            <a:ext cx="3524742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9512E7-A2D8-6096-56C4-C59CFBE43764}"/>
              </a:ext>
            </a:extLst>
          </p:cNvPr>
          <p:cNvSpPr txBox="1"/>
          <p:nvPr/>
        </p:nvSpPr>
        <p:spPr>
          <a:xfrm>
            <a:off x="208344" y="231386"/>
            <a:ext cx="819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 of results derived from PCA on a vaccination trial simulated dataset (1)</a:t>
            </a:r>
          </a:p>
        </p:txBody>
      </p:sp>
      <p:pic>
        <p:nvPicPr>
          <p:cNvPr id="4" name="Picture 3" descr="A group of colored dots&#10;&#10;AI-generated content may be incorrect.">
            <a:extLst>
              <a:ext uri="{FF2B5EF4-FFF2-40B4-BE49-F238E27FC236}">
                <a16:creationId xmlns:a16="http://schemas.microsoft.com/office/drawing/2014/main" id="{B084ED12-5C40-7F5F-C294-368904C93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239" y="859528"/>
            <a:ext cx="5767086" cy="5767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76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5CB2FA-53AD-06C6-1A54-77D9AEDD1EBA}"/>
              </a:ext>
            </a:extLst>
          </p:cNvPr>
          <p:cNvSpPr txBox="1"/>
          <p:nvPr/>
        </p:nvSpPr>
        <p:spPr>
          <a:xfrm>
            <a:off x="231494" y="594402"/>
            <a:ext cx="870416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600" b="1" dirty="0"/>
              <a:t>Day 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All three groups largely overlap around the origin.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No clear difference yet → everyone at baseline immune state.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3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(red) shift to the </a:t>
            </a:r>
            <a:r>
              <a:rPr lang="en-GB" sz="1600" b="1" dirty="0"/>
              <a:t>left</a:t>
            </a:r>
            <a:r>
              <a:rPr lang="en-GB" sz="1600" dirty="0"/>
              <a:t> (negative PC1):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Driven by higher </a:t>
            </a:r>
            <a:r>
              <a:rPr lang="en-GB" sz="1600" b="1" dirty="0"/>
              <a:t>Neutrophils, IL-6 score, Monocytes</a:t>
            </a:r>
            <a:r>
              <a:rPr lang="en-GB" sz="1600" dirty="0"/>
              <a:t> (arrows pointing left).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(yellow) are slightly to the </a:t>
            </a:r>
            <a:r>
              <a:rPr lang="en-GB" sz="1600" b="1" dirty="0"/>
              <a:t>right</a:t>
            </a:r>
            <a:r>
              <a:rPr lang="en-GB" sz="1600" dirty="0"/>
              <a:t> (more lymphoid/NK markers).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Controls</a:t>
            </a:r>
            <a:r>
              <a:rPr lang="en-GB" sz="1600" dirty="0"/>
              <a:t> (blue) remain central and lower.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7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are still clearly separated from controls but now mainly </a:t>
            </a:r>
            <a:r>
              <a:rPr lang="en-GB" sz="1600" b="1" dirty="0"/>
              <a:t>upwards</a:t>
            </a:r>
            <a:r>
              <a:rPr lang="en-GB" sz="1600" dirty="0"/>
              <a:t> along PC2: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In the direction of </a:t>
            </a:r>
            <a:r>
              <a:rPr lang="en-GB" sz="1600" b="1" dirty="0"/>
              <a:t>CD8, IgM, IgG, PD1_Tcells</a:t>
            </a:r>
            <a:r>
              <a:rPr lang="en-GB" sz="1600" dirty="0"/>
              <a:t> → strong adaptive T-cell / antibody response.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sit between non-vaccinated and controls, showing a milder adaptive response.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Controls</a:t>
            </a:r>
            <a:r>
              <a:rPr lang="en-GB" sz="1600" dirty="0"/>
              <a:t> remain compact near the lower centre.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14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Clouds start to move back toward each other: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Vaccinated</a:t>
            </a:r>
            <a:r>
              <a:rPr lang="en-GB" sz="1600" dirty="0"/>
              <a:t> move closer to controls.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Non-vaccinated</a:t>
            </a:r>
            <a:r>
              <a:rPr lang="en-GB" sz="1600" dirty="0"/>
              <a:t> remain somewhat higher (residual CD8/IgG/IgM signal).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28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almost overlap with controls.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are still a bit higher in PC2 but much closer than at Day 3–7.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739D2-9D14-BA4B-3C42-65FF1E489197}"/>
              </a:ext>
            </a:extLst>
          </p:cNvPr>
          <p:cNvSpPr txBox="1"/>
          <p:nvPr/>
        </p:nvSpPr>
        <p:spPr>
          <a:xfrm>
            <a:off x="208344" y="231386"/>
            <a:ext cx="819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 of results derived from PCA on a vaccination trial simulated dataset (2)</a:t>
            </a:r>
          </a:p>
        </p:txBody>
      </p:sp>
    </p:spTree>
    <p:extLst>
      <p:ext uri="{BB962C8B-B14F-4D97-AF65-F5344CB8AC3E}">
        <p14:creationId xmlns:p14="http://schemas.microsoft.com/office/powerpoint/2010/main" val="1007045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2684</Words>
  <Application>Microsoft Macintosh PowerPoint</Application>
  <PresentationFormat>On-screen Show (4:3)</PresentationFormat>
  <Paragraphs>331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PowerPoint Presentation</vt:lpstr>
      <vt:lpstr>PowerPoint Presentation</vt:lpstr>
      <vt:lpstr>NOTES on LM</vt:lpstr>
      <vt:lpstr>PowerPoint Presentation</vt:lpstr>
      <vt:lpstr>PowerPoint Presentation</vt:lpstr>
      <vt:lpstr>NOTES on LMM</vt:lpstr>
      <vt:lpstr>PowerPoint Presentation</vt:lpstr>
      <vt:lpstr>PowerPoint Presentation</vt:lpstr>
      <vt:lpstr>PowerPoint Presentation</vt:lpstr>
      <vt:lpstr>PowerPoint Presentation</vt:lpstr>
      <vt:lpstr>NOTES on PCA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59</cp:revision>
  <dcterms:created xsi:type="dcterms:W3CDTF">2013-01-27T09:14:16Z</dcterms:created>
  <dcterms:modified xsi:type="dcterms:W3CDTF">2025-12-01T09:29:26Z</dcterms:modified>
  <cp:category/>
</cp:coreProperties>
</file>